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2" r:id="rId7"/>
    <p:sldId id="263" r:id="rId8"/>
    <p:sldId id="272" r:id="rId9"/>
    <p:sldId id="264" r:id="rId10"/>
    <p:sldId id="265" r:id="rId11"/>
    <p:sldId id="266" r:id="rId12"/>
    <p:sldId id="271"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8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33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presenting OutfitOra. It tells you what to wear today by looking at your calendar and the hourly weather. The video has four parts: why we built it, a demo, how it works in code, and a discussion of success and ethics.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weather apps give a number for the whole day, for example 12 degrees and some chance of rain. You still have to decide what to wear. And you are not outside all day: only while you travel and at outdoor events. A date and a morning run need different clothes. Also some people are always cold, others always warm. OutfitOra turns the forecast for the hours you are really outside into a clear answer.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area is a daily personal decision: what to wear and bring. The users are students, commuters, and cyclists, especially in changeable Nordic weather, and anyone who has dressed wrong for a date or a run. The system is low stakes, which matters for the ethics part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Steps: 1) choose city and day. 2) Add an event, for example Dinner at 19:00, or upload an .ics calendar file. 3) Read the verdict: Wear, Bring, Avoid, and the hourly chart with the event highlighted. 4) Change transport to bike and show the advice change. 5) Press Too cold and show the Tuned to you 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part one. Three parts: a React frontend that keeps your settings, a FastAPI backend that validates requests and computes the verdict, and Open-Meteo for weather and city search. The backend is stateless with no database, so everything arrives in the request and what it learns goes back in the response.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request end to end: an input changes, the backend gets three days of hourly weather cached for thirty minutes, classifies each event, builds exposure windows, applies rules plus the ML offset, and the frontend shows the verdict. A vote then trains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block one. A Swedish and English keyword classifier decides if an event is outdoors and its dress code. Time outside depends on transport: walk 20 minutes, bike 20, transit 15, car 5. We only judge the weather in those windows; with no events, a typical commute.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clothing rule: effective temperature is the coldest feels-like, plus an activity adjustment, minus your personal offset. The first band that fits picks the base outfit, thermal layers below minus fifteen up to T-shirt and shorts above twenty-four. Dressy events swap items, for example jacket to wool coat.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rules then add items: rain jacket, or an umbrella for dressy events; wind replaces the umbrella; ice triggers grips; high UV adds sunglasses; big swings suggest layers. Trade-offs are stated openly, for instance that the umbrella keeps the look sharp but your back may get wet.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part. The old version had one global offset, which cannot say I freeze only when cycling in wind. Our model is online linear regression: normalised least mean squares with ridge shrinkage, eight context features, output an offset in degrees that shifts the clothing band.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It is windy, 12 metres per second, and you cycle. You press Too cold. The model raises the offset for that situation to about 0.8 degrees. A calm day on the bus now only gets 0.26 degrees. So after one vote the model has already started to tell the two situations apart. Tests: in a simulation with a hidden true user, after 600 votes the error was less than half. Honest limit: only 8 parameters and coarse votes, so it improves slowly.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the goal, a clear outfit decision for the hours you are outside, the system works. It uses the calendar, the dress code and the transport, gives advice with trade-offs, and personalises. Limits: three-day forecast, Sweden only, English text, keyword event detection, fixed thresholds, only 8 model parameters, weights per browser. We did not run a user study, so we can show that it works with tests and the demo, but not yet measured user satisfaction. Next step: a small user study and calendar sync.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Ethically this is a low-stakes app, but there are issues. Privacy: calendars reveal habits, so we parse them in memory, never store them, and keep learned weights in the browser. The weather source is EU-hosted, and the backend should be too for GDPR. Transparency: the Tuned to you note shows when advice is personalised. Reliability: forecasts can be wrong, so advice is a suggestion, not safety critical. Fairness: keyword rules support only English and Swedish. The model learns one person, not groups, so little bias 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OutfitOra judges only the hours you are outside, uses transparent rules for safety and a small model for personal comfort, and keeps your data private.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22D"/>
        </a:solidFill>
        <a:effectLst/>
      </p:bgPr>
    </p:bg>
    <p:spTree>
      <p:nvGrpSpPr>
        <p:cNvPr id="1" name=""/>
        <p:cNvGrpSpPr/>
        <p:nvPr/>
      </p:nvGrpSpPr>
      <p:grpSpPr>
        <a:xfrm>
          <a:off x="0" y="0"/>
          <a:ext cx="0" cy="0"/>
          <a:chOff x="0" y="0"/>
          <a:chExt cx="0" cy="0"/>
        </a:xfrm>
      </p:grpSpPr>
      <p:sp>
        <p:nvSpPr>
          <p:cNvPr id="2" name="Text 0"/>
          <p:cNvSpPr txBox="1"/>
          <p:nvPr/>
        </p:nvSpPr>
        <p:spPr>
          <a:xfrm>
            <a:off x="548640" y="1280160"/>
            <a:ext cx="8229600" cy="914400"/>
          </a:xfrm>
          <a:prstGeom prst="rect">
            <a:avLst/>
          </a:prstGeom>
          <a:noFill/>
          <a:ln/>
        </p:spPr>
        <p:txBody>
          <a:bodyPr wrap="square" lIns="0" tIns="0" rIns="0" bIns="0" rtlCol="0" anchor="ctr"/>
          <a:lstStyle/>
          <a:p>
            <a:pPr marL="0" indent="0">
              <a:buNone/>
            </a:pPr>
            <a:r>
              <a:rPr lang="en-US" sz="5400" b="1" dirty="0" err="1">
                <a:solidFill>
                  <a:srgbClr val="F2E94E"/>
                </a:solidFill>
                <a:latin typeface="Cambria" pitchFamily="34" charset="0"/>
                <a:ea typeface="Cambria" pitchFamily="34" charset="-122"/>
                <a:cs typeface="Cambria" pitchFamily="34" charset="-120"/>
              </a:rPr>
              <a:t>OutfitOra</a:t>
            </a:r>
            <a:r>
              <a:rPr lang="en-US" sz="5400" b="1" dirty="0">
                <a:solidFill>
                  <a:srgbClr val="F2E94E"/>
                </a:solidFill>
                <a:latin typeface="Cambria" pitchFamily="34" charset="0"/>
                <a:ea typeface="Cambria" pitchFamily="34" charset="-122"/>
                <a:cs typeface="Cambria" pitchFamily="34" charset="-120"/>
              </a:rPr>
              <a:t> </a:t>
            </a:r>
            <a:r>
              <a:rPr lang="en-US" sz="2000" b="1" dirty="0">
                <a:solidFill>
                  <a:srgbClr val="F2E94E"/>
                </a:solidFill>
                <a:latin typeface="Cambria" pitchFamily="34" charset="0"/>
                <a:ea typeface="Cambria" pitchFamily="34" charset="-122"/>
                <a:cs typeface="Cambria" pitchFamily="34" charset="-120"/>
              </a:rPr>
              <a:t>-Our daily style forecast</a:t>
            </a:r>
            <a:endParaRPr lang="en-US" sz="2000" dirty="0"/>
          </a:p>
        </p:txBody>
      </p:sp>
      <p:sp>
        <p:nvSpPr>
          <p:cNvPr id="3" name="Text 1"/>
          <p:cNvSpPr txBox="1"/>
          <p:nvPr/>
        </p:nvSpPr>
        <p:spPr>
          <a:xfrm>
            <a:off x="548640" y="2286000"/>
            <a:ext cx="7772400" cy="822960"/>
          </a:xfrm>
          <a:prstGeom prst="rect">
            <a:avLst/>
          </a:prstGeom>
          <a:noFill/>
          <a:ln/>
        </p:spPr>
        <p:txBody>
          <a:bodyPr wrap="square" lIns="0" tIns="0" rIns="0" bIns="0" rtlCol="0" anchor="ctr"/>
          <a:lstStyle/>
          <a:p>
            <a:pPr marL="0" indent="0">
              <a:buNone/>
            </a:pPr>
            <a:endParaRPr lang="en-US" sz="2400" dirty="0"/>
          </a:p>
        </p:txBody>
      </p:sp>
      <p:sp>
        <p:nvSpPr>
          <p:cNvPr id="4" name="Text 2"/>
          <p:cNvSpPr txBox="1"/>
          <p:nvPr/>
        </p:nvSpPr>
        <p:spPr>
          <a:xfrm>
            <a:off x="622119" y="2743200"/>
            <a:ext cx="7772400" cy="914400"/>
          </a:xfrm>
          <a:prstGeom prst="rect">
            <a:avLst/>
          </a:prstGeom>
          <a:noFill/>
          <a:ln/>
        </p:spPr>
        <p:txBody>
          <a:bodyPr wrap="square" lIns="0" tIns="0" rIns="0" bIns="0" rtlCol="0" anchor="ctr"/>
          <a:lstStyle/>
          <a:p>
            <a:pPr marL="0" indent="0">
              <a:buNone/>
            </a:pPr>
            <a:endParaRPr lang="en-US" sz="1500" dirty="0"/>
          </a:p>
          <a:p>
            <a:pPr marL="0" indent="0">
              <a:buNone/>
            </a:pPr>
            <a:r>
              <a:rPr lang="en-US" sz="1500" dirty="0">
                <a:solidFill>
                  <a:srgbClr val="D5E0E8"/>
                </a:solidFill>
                <a:latin typeface="Calibri" pitchFamily="34" charset="0"/>
                <a:ea typeface="Calibri" pitchFamily="34" charset="-122"/>
                <a:cs typeface="Calibri" pitchFamily="34" charset="-120"/>
              </a:rPr>
              <a:t>Presented by: Ardra Suresh, </a:t>
            </a:r>
            <a:r>
              <a:rPr lang="en-US" sz="1500" dirty="0" err="1">
                <a:solidFill>
                  <a:srgbClr val="D5E0E8"/>
                </a:solidFill>
                <a:latin typeface="Calibri" pitchFamily="34" charset="0"/>
                <a:ea typeface="Calibri" pitchFamily="34" charset="-122"/>
                <a:cs typeface="Calibri" pitchFamily="34" charset="-120"/>
              </a:rPr>
              <a:t>Jinsy</a:t>
            </a:r>
            <a:r>
              <a:rPr lang="en-US" sz="1500" dirty="0">
                <a:solidFill>
                  <a:srgbClr val="D5E0E8"/>
                </a:solidFill>
                <a:latin typeface="Calibri" pitchFamily="34" charset="0"/>
                <a:ea typeface="Calibri" pitchFamily="34" charset="-122"/>
                <a:cs typeface="Calibri" pitchFamily="34" charset="-120"/>
              </a:rPr>
              <a:t> </a:t>
            </a:r>
            <a:r>
              <a:rPr lang="en-US" sz="1500" dirty="0" err="1">
                <a:solidFill>
                  <a:srgbClr val="D5E0E8"/>
                </a:solidFill>
                <a:latin typeface="Calibri" pitchFamily="34" charset="0"/>
                <a:ea typeface="Calibri" pitchFamily="34" charset="-122"/>
                <a:cs typeface="Calibri" pitchFamily="34" charset="-120"/>
              </a:rPr>
              <a:t>Panamkkattu</a:t>
            </a:r>
            <a:r>
              <a:rPr lang="en-US" sz="1500" dirty="0">
                <a:solidFill>
                  <a:srgbClr val="D5E0E8"/>
                </a:solidFill>
                <a:latin typeface="Calibri" pitchFamily="34" charset="0"/>
                <a:ea typeface="Calibri" pitchFamily="34" charset="-122"/>
                <a:cs typeface="Calibri" pitchFamily="34" charset="-120"/>
              </a:rPr>
              <a:t>, Neethu Jose </a:t>
            </a:r>
            <a:r>
              <a:rPr lang="en-US" sz="1500" dirty="0" err="1">
                <a:solidFill>
                  <a:srgbClr val="D5E0E8"/>
                </a:solidFill>
                <a:latin typeface="Calibri" pitchFamily="34" charset="0"/>
                <a:ea typeface="Calibri" pitchFamily="34" charset="-122"/>
                <a:cs typeface="Calibri" pitchFamily="34" charset="-120"/>
              </a:rPr>
              <a:t>Chully</a:t>
            </a:r>
            <a:r>
              <a:rPr lang="en-US" sz="1500" dirty="0">
                <a:solidFill>
                  <a:srgbClr val="D5E0E8"/>
                </a:solidFill>
                <a:latin typeface="Calibri" pitchFamily="34" charset="0"/>
                <a:ea typeface="Calibri" pitchFamily="34" charset="-122"/>
                <a:cs typeface="Calibri" pitchFamily="34" charset="-120"/>
              </a:rPr>
              <a:t>, Reshma Mani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A weather app is not an outfit app</a:t>
            </a:r>
            <a:endParaRPr lang="en-US" sz="2800" dirty="0"/>
          </a:p>
        </p:txBody>
      </p:sp>
      <p:sp>
        <p:nvSpPr>
          <p:cNvPr id="6" name="Shape 3"/>
          <p:cNvSpPr/>
          <p:nvPr/>
        </p:nvSpPr>
        <p:spPr>
          <a:xfrm>
            <a:off x="457200" y="1417320"/>
            <a:ext cx="3749040" cy="2011680"/>
          </a:xfrm>
          <a:prstGeom prst="roundRect">
            <a:avLst>
              <a:gd name="adj" fmla="val 4545"/>
            </a:avLst>
          </a:prstGeom>
          <a:solidFill>
            <a:srgbClr val="EEF4F8"/>
          </a:solidFill>
          <a:ln w="12700">
            <a:solidFill>
              <a:srgbClr val="EEF4F8"/>
            </a:solidFill>
            <a:prstDash val="solid"/>
          </a:ln>
        </p:spPr>
        <p:txBody>
          <a:bodyPr/>
          <a:lstStyle/>
          <a:p>
            <a:endParaRPr lang="en-US"/>
          </a:p>
        </p:txBody>
      </p:sp>
      <p:sp>
        <p:nvSpPr>
          <p:cNvPr id="7" name="Text 4"/>
          <p:cNvSpPr txBox="1"/>
          <p:nvPr/>
        </p:nvSpPr>
        <p:spPr>
          <a:xfrm>
            <a:off x="640080" y="1508760"/>
            <a:ext cx="3383280" cy="1828800"/>
          </a:xfrm>
          <a:prstGeom prst="rect">
            <a:avLst/>
          </a:prstGeom>
          <a:noFill/>
          <a:ln/>
        </p:spPr>
        <p:txBody>
          <a:bodyPr wrap="square" lIns="0" tIns="0" rIns="0" bIns="0" rtlCol="0" anchor="t"/>
          <a:lstStyle/>
          <a:p>
            <a:pPr marL="0" indent="0">
              <a:buNone/>
            </a:pPr>
            <a:r>
              <a:rPr lang="en-US" sz="1400" b="1" dirty="0">
                <a:solidFill>
                  <a:srgbClr val="2F6B8F"/>
                </a:solidFill>
                <a:latin typeface="Calibri" pitchFamily="34" charset="0"/>
                <a:ea typeface="Calibri" pitchFamily="34" charset="-122"/>
                <a:cs typeface="Calibri" pitchFamily="34" charset="-120"/>
              </a:rPr>
              <a:t>Normal weather app</a:t>
            </a:r>
            <a:endParaRPr lang="en-US" sz="1600" dirty="0"/>
          </a:p>
          <a:p>
            <a:pPr marL="0" indent="0">
              <a:buNone/>
            </a:pPr>
            <a:r>
              <a:rPr lang="en-US" sz="2200" b="1" dirty="0">
                <a:solidFill>
                  <a:srgbClr val="1F2D38"/>
                </a:solidFill>
                <a:latin typeface="Calibri" pitchFamily="34" charset="0"/>
                <a:ea typeface="Calibri" pitchFamily="34" charset="-122"/>
                <a:cs typeface="Calibri" pitchFamily="34" charset="-120"/>
              </a:rPr>
              <a:t>12 °C, rain 40%, wind 6 m/s</a:t>
            </a:r>
            <a:endParaRPr lang="en-US" sz="1600" dirty="0"/>
          </a:p>
          <a:p>
            <a:pPr marL="0" indent="0">
              <a:buNone/>
            </a:pPr>
            <a:r>
              <a:rPr lang="en-US" sz="1500" dirty="0">
                <a:solidFill>
                  <a:srgbClr val="1F2D38"/>
                </a:solidFill>
                <a:latin typeface="Calibri" pitchFamily="34" charset="0"/>
                <a:ea typeface="Calibri" pitchFamily="34" charset="-122"/>
                <a:cs typeface="Calibri" pitchFamily="34" charset="-120"/>
              </a:rPr>
              <a:t>You decide what it means.</a:t>
            </a:r>
            <a:endParaRPr lang="en-US" sz="1600" dirty="0"/>
          </a:p>
        </p:txBody>
      </p:sp>
      <p:sp>
        <p:nvSpPr>
          <p:cNvPr id="8" name="Text 5"/>
          <p:cNvSpPr txBox="1"/>
          <p:nvPr/>
        </p:nvSpPr>
        <p:spPr>
          <a:xfrm>
            <a:off x="4343400" y="219456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4937760" y="1417320"/>
            <a:ext cx="3749040" cy="2011680"/>
          </a:xfrm>
          <a:prstGeom prst="roundRect">
            <a:avLst>
              <a:gd name="adj" fmla="val 4545"/>
            </a:avLst>
          </a:prstGeom>
          <a:solidFill>
            <a:srgbClr val="12222D"/>
          </a:solidFill>
          <a:ln w="12700">
            <a:solidFill>
              <a:srgbClr val="12222D"/>
            </a:solidFill>
            <a:prstDash val="solid"/>
          </a:ln>
        </p:spPr>
        <p:txBody>
          <a:bodyPr/>
          <a:lstStyle/>
          <a:p>
            <a:endParaRPr lang="en-US"/>
          </a:p>
        </p:txBody>
      </p:sp>
      <p:sp>
        <p:nvSpPr>
          <p:cNvPr id="10" name="Text 7"/>
          <p:cNvSpPr txBox="1"/>
          <p:nvPr/>
        </p:nvSpPr>
        <p:spPr>
          <a:xfrm>
            <a:off x="5120640" y="1508760"/>
            <a:ext cx="3383280" cy="1828800"/>
          </a:xfrm>
          <a:prstGeom prst="rect">
            <a:avLst/>
          </a:prstGeom>
          <a:noFill/>
          <a:ln/>
        </p:spPr>
        <p:txBody>
          <a:bodyPr wrap="square" lIns="0" tIns="0" rIns="0" bIns="0" rtlCol="0" anchor="t"/>
          <a:lstStyle/>
          <a:p>
            <a:pPr marL="0" indent="0">
              <a:buNone/>
            </a:pPr>
            <a:r>
              <a:rPr lang="en-US" sz="1400" b="1" dirty="0">
                <a:solidFill>
                  <a:srgbClr val="F2E94E"/>
                </a:solidFill>
                <a:latin typeface="Calibri" pitchFamily="34" charset="0"/>
                <a:ea typeface="Calibri" pitchFamily="34" charset="-122"/>
                <a:cs typeface="Calibri" pitchFamily="34" charset="-120"/>
              </a:rPr>
              <a:t>OutfitOra</a:t>
            </a:r>
            <a:endParaRPr lang="en-US" sz="1600" dirty="0"/>
          </a:p>
          <a:p>
            <a:pPr marL="0" indent="0">
              <a:buNone/>
            </a:pPr>
            <a:r>
              <a:rPr lang="en-US" sz="2000" b="1" dirty="0">
                <a:solidFill>
                  <a:srgbClr val="FFFFFF"/>
                </a:solidFill>
                <a:latin typeface="Calibri" pitchFamily="34" charset="0"/>
                <a:ea typeface="Calibri" pitchFamily="34" charset="-122"/>
                <a:cs typeface="Calibri" pitchFamily="34" charset="-120"/>
              </a:rPr>
              <a:t>Bring an umbrella, wear a wool coat, avoid white shoes</a:t>
            </a:r>
            <a:endParaRPr lang="en-US" sz="1600" dirty="0"/>
          </a:p>
          <a:p>
            <a:pPr marL="0" indent="0">
              <a:buNone/>
            </a:pPr>
            <a:r>
              <a:rPr lang="en-US" sz="1500" dirty="0">
                <a:solidFill>
                  <a:srgbClr val="FFFFFF"/>
                </a:solidFill>
                <a:latin typeface="Calibri" pitchFamily="34" charset="0"/>
                <a:ea typeface="Calibri" pitchFamily="34" charset="-122"/>
                <a:cs typeface="Calibri" pitchFamily="34" charset="-120"/>
              </a:rPr>
              <a:t>Made for your day.</a:t>
            </a:r>
            <a:endParaRPr lang="en-US" sz="1600" dirty="0"/>
          </a:p>
        </p:txBody>
      </p:sp>
      <p:sp>
        <p:nvSpPr>
          <p:cNvPr id="11" name="Text 8"/>
          <p:cNvSpPr txBox="1"/>
          <p:nvPr/>
        </p:nvSpPr>
        <p:spPr>
          <a:xfrm>
            <a:off x="457200" y="3749040"/>
            <a:ext cx="8229600" cy="731520"/>
          </a:xfrm>
          <a:prstGeom prst="rect">
            <a:avLst/>
          </a:prstGeom>
          <a:noFill/>
          <a:ln/>
        </p:spPr>
        <p:txBody>
          <a:bodyPr wrap="square" lIns="0" tIns="0" rIns="0" bIns="0" rtlCol="0" anchor="ctr"/>
          <a:lstStyle/>
          <a:p>
            <a:pPr marL="0" indent="0">
              <a:buNone/>
            </a:pPr>
            <a:r>
              <a:rPr lang="en-US" sz="1800" b="1" dirty="0">
                <a:solidFill>
                  <a:srgbClr val="12222D"/>
                </a:solidFill>
                <a:latin typeface="Calibri" pitchFamily="34" charset="0"/>
                <a:ea typeface="Calibri" pitchFamily="34" charset="-122"/>
                <a:cs typeface="Calibri" pitchFamily="34" charset="-120"/>
              </a:rPr>
              <a:t>Three things normal apps ignore: when you are outside  •  what event you dress for  •  how warm you like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Application area and users</a:t>
            </a:r>
            <a:endParaRPr lang="en-US" sz="2800" dirty="0"/>
          </a:p>
        </p:txBody>
      </p:sp>
      <p:sp>
        <p:nvSpPr>
          <p:cNvPr id="6" name="Shape 3"/>
          <p:cNvSpPr/>
          <p:nvPr/>
        </p:nvSpPr>
        <p:spPr>
          <a:xfrm>
            <a:off x="457200" y="1463040"/>
            <a:ext cx="2651760" cy="1920240"/>
          </a:xfrm>
          <a:prstGeom prst="roundRect">
            <a:avLst>
              <a:gd name="adj" fmla="val 4762"/>
            </a:avLst>
          </a:prstGeom>
          <a:solidFill>
            <a:srgbClr val="EEF4F8"/>
          </a:solidFill>
          <a:ln w="12700">
            <a:solidFill>
              <a:srgbClr val="EEF4F8"/>
            </a:solidFill>
            <a:prstDash val="solid"/>
          </a:ln>
        </p:spPr>
        <p:txBody>
          <a:bodyPr/>
          <a:lstStyle/>
          <a:p>
            <a:endParaRPr lang="en-US"/>
          </a:p>
        </p:txBody>
      </p:sp>
      <p:sp>
        <p:nvSpPr>
          <p:cNvPr id="7" name="Text 4"/>
          <p:cNvSpPr txBox="1"/>
          <p:nvPr/>
        </p:nvSpPr>
        <p:spPr>
          <a:xfrm>
            <a:off x="640080" y="1554480"/>
            <a:ext cx="2286000" cy="1737360"/>
          </a:xfrm>
          <a:prstGeom prst="rect">
            <a:avLst/>
          </a:prstGeom>
          <a:noFill/>
          <a:ln/>
        </p:spPr>
        <p:txBody>
          <a:bodyPr wrap="square" lIns="0" tIns="0" rIns="0" bIns="0" rtlCol="0" anchor="t"/>
          <a:lstStyle/>
          <a:p>
            <a:pPr marL="0" indent="0">
              <a:buNone/>
            </a:pPr>
            <a:r>
              <a:rPr lang="en-US" sz="2200" b="1" dirty="0">
                <a:solidFill>
                  <a:srgbClr val="2F6B8F"/>
                </a:solidFill>
                <a:latin typeface="Calibri" pitchFamily="34" charset="0"/>
                <a:ea typeface="Calibri" pitchFamily="34" charset="-122"/>
                <a:cs typeface="Calibri" pitchFamily="34" charset="-120"/>
              </a:rPr>
              <a:t>Who</a:t>
            </a:r>
            <a:endParaRPr lang="en-US" sz="1600" dirty="0"/>
          </a:p>
          <a:p>
            <a:pPr marL="0" indent="0">
              <a:buNone/>
            </a:pPr>
            <a:r>
              <a:rPr lang="en-US" sz="1700" dirty="0">
                <a:solidFill>
                  <a:srgbClr val="1F2D38"/>
                </a:solidFill>
                <a:latin typeface="Calibri" pitchFamily="34" charset="0"/>
                <a:ea typeface="Calibri" pitchFamily="34" charset="-122"/>
                <a:cs typeface="Calibri" pitchFamily="34" charset="-120"/>
              </a:rPr>
              <a:t>Students, commuters, cyclists, anyone with a calendar</a:t>
            </a:r>
            <a:endParaRPr lang="en-US" sz="1600" dirty="0"/>
          </a:p>
        </p:txBody>
      </p:sp>
      <p:sp>
        <p:nvSpPr>
          <p:cNvPr id="8" name="Shape 5"/>
          <p:cNvSpPr/>
          <p:nvPr/>
        </p:nvSpPr>
        <p:spPr>
          <a:xfrm>
            <a:off x="3291840" y="1463040"/>
            <a:ext cx="2651760" cy="1920240"/>
          </a:xfrm>
          <a:prstGeom prst="roundRect">
            <a:avLst>
              <a:gd name="adj" fmla="val 4762"/>
            </a:avLst>
          </a:prstGeom>
          <a:solidFill>
            <a:srgbClr val="12222D"/>
          </a:solidFill>
          <a:ln w="12700">
            <a:solidFill>
              <a:srgbClr val="12222D"/>
            </a:solidFill>
            <a:prstDash val="solid"/>
          </a:ln>
        </p:spPr>
        <p:txBody>
          <a:bodyPr/>
          <a:lstStyle/>
          <a:p>
            <a:endParaRPr lang="en-US"/>
          </a:p>
        </p:txBody>
      </p:sp>
      <p:sp>
        <p:nvSpPr>
          <p:cNvPr id="9" name="Text 6"/>
          <p:cNvSpPr txBox="1"/>
          <p:nvPr/>
        </p:nvSpPr>
        <p:spPr>
          <a:xfrm>
            <a:off x="3474720" y="1554480"/>
            <a:ext cx="2286000" cy="1737360"/>
          </a:xfrm>
          <a:prstGeom prst="rect">
            <a:avLst/>
          </a:prstGeom>
          <a:noFill/>
          <a:ln/>
        </p:spPr>
        <p:txBody>
          <a:bodyPr wrap="square" lIns="0" tIns="0" rIns="0" bIns="0" rtlCol="0" anchor="t"/>
          <a:lstStyle/>
          <a:p>
            <a:pPr marL="0" indent="0">
              <a:buNone/>
            </a:pPr>
            <a:r>
              <a:rPr lang="en-US" sz="2200" b="1" dirty="0">
                <a:solidFill>
                  <a:srgbClr val="F2E94E"/>
                </a:solidFill>
                <a:latin typeface="Calibri" pitchFamily="34" charset="0"/>
                <a:ea typeface="Calibri" pitchFamily="34" charset="-122"/>
                <a:cs typeface="Calibri" pitchFamily="34" charset="-120"/>
              </a:rPr>
              <a:t>When</a:t>
            </a:r>
            <a:endParaRPr lang="en-US" sz="1600" dirty="0"/>
          </a:p>
          <a:p>
            <a:pPr marL="0" indent="0">
              <a:buNone/>
            </a:pPr>
            <a:r>
              <a:rPr lang="en-US" sz="1700" dirty="0">
                <a:solidFill>
                  <a:srgbClr val="FFFFFF"/>
                </a:solidFill>
                <a:latin typeface="Calibri" pitchFamily="34" charset="0"/>
                <a:ea typeface="Calibri" pitchFamily="34" charset="-122"/>
                <a:cs typeface="Calibri" pitchFamily="34" charset="-120"/>
              </a:rPr>
              <a:t>Every morning, before leaving home</a:t>
            </a:r>
            <a:endParaRPr lang="en-US" sz="1600" dirty="0"/>
          </a:p>
        </p:txBody>
      </p:sp>
      <p:sp>
        <p:nvSpPr>
          <p:cNvPr id="10" name="Shape 7"/>
          <p:cNvSpPr/>
          <p:nvPr/>
        </p:nvSpPr>
        <p:spPr>
          <a:xfrm>
            <a:off x="6126480" y="1463040"/>
            <a:ext cx="2651760" cy="1920240"/>
          </a:xfrm>
          <a:prstGeom prst="roundRect">
            <a:avLst>
              <a:gd name="adj" fmla="val 4762"/>
            </a:avLst>
          </a:prstGeom>
          <a:solidFill>
            <a:srgbClr val="EEF4F8"/>
          </a:solidFill>
          <a:ln w="12700">
            <a:solidFill>
              <a:srgbClr val="EEF4F8"/>
            </a:solidFill>
            <a:prstDash val="solid"/>
          </a:ln>
        </p:spPr>
        <p:txBody>
          <a:bodyPr/>
          <a:lstStyle/>
          <a:p>
            <a:endParaRPr lang="en-US"/>
          </a:p>
        </p:txBody>
      </p:sp>
      <p:sp>
        <p:nvSpPr>
          <p:cNvPr id="11" name="Text 8"/>
          <p:cNvSpPr txBox="1"/>
          <p:nvPr/>
        </p:nvSpPr>
        <p:spPr>
          <a:xfrm>
            <a:off x="6309360" y="1554480"/>
            <a:ext cx="2286000" cy="1737360"/>
          </a:xfrm>
          <a:prstGeom prst="rect">
            <a:avLst/>
          </a:prstGeom>
          <a:noFill/>
          <a:ln/>
        </p:spPr>
        <p:txBody>
          <a:bodyPr wrap="square" lIns="0" tIns="0" rIns="0" bIns="0" rtlCol="0" anchor="t"/>
          <a:lstStyle/>
          <a:p>
            <a:pPr marL="0" indent="0">
              <a:buNone/>
            </a:pPr>
            <a:r>
              <a:rPr lang="en-US" sz="2200" b="1" dirty="0">
                <a:solidFill>
                  <a:srgbClr val="2F6B8F"/>
                </a:solidFill>
                <a:latin typeface="Calibri" pitchFamily="34" charset="0"/>
                <a:ea typeface="Calibri" pitchFamily="34" charset="-122"/>
                <a:cs typeface="Calibri" pitchFamily="34" charset="-120"/>
              </a:rPr>
              <a:t>Where</a:t>
            </a:r>
            <a:endParaRPr lang="en-US" sz="1600" dirty="0"/>
          </a:p>
          <a:p>
            <a:pPr marL="0" indent="0">
              <a:buNone/>
            </a:pPr>
            <a:r>
              <a:rPr lang="en-US" sz="1700" dirty="0">
                <a:solidFill>
                  <a:srgbClr val="1F2D38"/>
                </a:solidFill>
                <a:latin typeface="Calibri" pitchFamily="34" charset="0"/>
                <a:ea typeface="Calibri" pitchFamily="34" charset="-122"/>
                <a:cs typeface="Calibri" pitchFamily="34" charset="-120"/>
              </a:rPr>
              <a:t>Changeable weather, for example Sweden</a:t>
            </a:r>
            <a:endParaRPr lang="en-US" sz="1600" dirty="0"/>
          </a:p>
        </p:txBody>
      </p:sp>
      <p:sp>
        <p:nvSpPr>
          <p:cNvPr id="12" name="Text 9"/>
          <p:cNvSpPr txBox="1"/>
          <p:nvPr/>
        </p:nvSpPr>
        <p:spPr>
          <a:xfrm>
            <a:off x="457200" y="3657600"/>
            <a:ext cx="8229600" cy="822960"/>
          </a:xfrm>
          <a:prstGeom prst="rect">
            <a:avLst/>
          </a:prstGeom>
          <a:noFill/>
          <a:ln/>
        </p:spPr>
        <p:txBody>
          <a:bodyPr wrap="square" lIns="0" tIns="0" rIns="0" bIns="0" rtlCol="0" anchor="ctr"/>
          <a:lstStyle/>
          <a:p>
            <a:pPr marL="0" indent="0">
              <a:buNone/>
            </a:pPr>
            <a:r>
              <a:rPr lang="en-US" sz="1800" dirty="0">
                <a:solidFill>
                  <a:srgbClr val="12222D"/>
                </a:solidFill>
                <a:latin typeface="Calibri" pitchFamily="34" charset="0"/>
                <a:ea typeface="Calibri" pitchFamily="34" charset="-122"/>
                <a:cs typeface="Calibri" pitchFamily="34" charset="-120"/>
              </a:rPr>
              <a:t>Example day: cycle to a lecture in wind, then walk to a dinner in nice clothes.</a:t>
            </a:r>
            <a:endParaRPr lang="en-US" sz="1800" dirty="0"/>
          </a:p>
          <a:p>
            <a:pPr marL="0" indent="0">
              <a:buNone/>
            </a:pPr>
            <a:r>
              <a:rPr lang="en-US" sz="1800" dirty="0">
                <a:solidFill>
                  <a:srgbClr val="12222D"/>
                </a:solidFill>
                <a:latin typeface="Calibri" pitchFamily="34" charset="0"/>
                <a:ea typeface="Calibri" pitchFamily="34" charset="-122"/>
                <a:cs typeface="Calibri" pitchFamily="34" charset="-120"/>
              </a:rPr>
              <a:t>One forecast cannot answer that. OutfitOra can.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22D"/>
        </a:solidFill>
        <a:effectLst/>
      </p:bgPr>
    </p:bg>
    <p:spTree>
      <p:nvGrpSpPr>
        <p:cNvPr id="1" name=""/>
        <p:cNvGrpSpPr/>
        <p:nvPr/>
      </p:nvGrpSpPr>
      <p:grpSpPr>
        <a:xfrm>
          <a:off x="0" y="0"/>
          <a:ext cx="0" cy="0"/>
          <a:chOff x="0" y="0"/>
          <a:chExt cx="0" cy="0"/>
        </a:xfrm>
      </p:grpSpPr>
      <p:sp>
        <p:nvSpPr>
          <p:cNvPr id="3" name="Text 1"/>
          <p:cNvSpPr txBox="1"/>
          <p:nvPr/>
        </p:nvSpPr>
        <p:spPr>
          <a:xfrm>
            <a:off x="548640" y="1846762"/>
            <a:ext cx="7315200" cy="1005840"/>
          </a:xfrm>
          <a:prstGeom prst="rect">
            <a:avLst/>
          </a:prstGeom>
          <a:noFill/>
          <a:ln/>
        </p:spPr>
        <p:txBody>
          <a:bodyPr wrap="square" lIns="0" tIns="0" rIns="0" bIns="0" rtlCol="0" anchor="ctr"/>
          <a:lstStyle/>
          <a:p>
            <a:pPr marL="0" indent="0">
              <a:buNone/>
            </a:pPr>
            <a:r>
              <a:rPr lang="en-US" sz="6600" dirty="0">
                <a:solidFill>
                  <a:schemeClr val="bg1">
                    <a:lumMod val="95000"/>
                  </a:schemeClr>
                </a:solidFill>
              </a:rPr>
              <a:t>Demonstration</a:t>
            </a:r>
          </a:p>
        </p:txBody>
      </p:sp>
      <p:sp>
        <p:nvSpPr>
          <p:cNvPr id="4" name="Text 2"/>
          <p:cNvSpPr txBox="1"/>
          <p:nvPr/>
        </p:nvSpPr>
        <p:spPr>
          <a:xfrm>
            <a:off x="548640" y="3017520"/>
            <a:ext cx="7315200" cy="457200"/>
          </a:xfrm>
          <a:prstGeom prst="rect">
            <a:avLst/>
          </a:prstGeom>
          <a:noFill/>
          <a:ln/>
        </p:spPr>
        <p:txBody>
          <a:bodyPr wrap="square" lIns="0" tIns="0" rIns="0" bIns="0" rtlCol="0" anchor="ctr"/>
          <a:lstStyle/>
          <a:p>
            <a:pPr marL="0" indent="0">
              <a:buNone/>
            </a:pPr>
            <a:r>
              <a:rPr lang="en-US" sz="2200" dirty="0">
                <a:solidFill>
                  <a:srgbClr val="D5E0E8"/>
                </a:solidFill>
                <a:latin typeface="Calibri" pitchFamily="34" charset="0"/>
                <a:ea typeface="Calibri" pitchFamily="34" charset="-122"/>
                <a:cs typeface="Calibri" pitchFamily="34" charset="-120"/>
              </a:rPr>
              <a:t>What the system does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System architecture</a:t>
            </a:r>
            <a:endParaRPr lang="en-US" sz="2800" dirty="0"/>
          </a:p>
        </p:txBody>
      </p:sp>
      <p:sp>
        <p:nvSpPr>
          <p:cNvPr id="6" name="Shape 3"/>
          <p:cNvSpPr/>
          <p:nvPr/>
        </p:nvSpPr>
        <p:spPr>
          <a:xfrm>
            <a:off x="457200" y="1280160"/>
            <a:ext cx="2377440" cy="914400"/>
          </a:xfrm>
          <a:prstGeom prst="roundRect">
            <a:avLst>
              <a:gd name="adj" fmla="val 10000"/>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371600"/>
            <a:ext cx="201168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React frontend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(Vite)</a:t>
            </a:r>
            <a:endParaRPr lang="en-US" sz="1600" dirty="0"/>
          </a:p>
        </p:txBody>
      </p:sp>
      <p:sp>
        <p:nvSpPr>
          <p:cNvPr id="8" name="Text 5"/>
          <p:cNvSpPr txBox="1"/>
          <p:nvPr/>
        </p:nvSpPr>
        <p:spPr>
          <a:xfrm>
            <a:off x="3017520" y="155448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3474720" y="1280160"/>
            <a:ext cx="2377440" cy="914400"/>
          </a:xfrm>
          <a:prstGeom prst="roundRect">
            <a:avLst>
              <a:gd name="adj" fmla="val 10000"/>
            </a:avLst>
          </a:prstGeom>
          <a:solidFill>
            <a:srgbClr val="2F6B8F"/>
          </a:solidFill>
          <a:ln w="12700">
            <a:solidFill>
              <a:srgbClr val="2F6B8F"/>
            </a:solidFill>
            <a:prstDash val="solid"/>
          </a:ln>
        </p:spPr>
        <p:txBody>
          <a:bodyPr/>
          <a:lstStyle/>
          <a:p>
            <a:endParaRPr lang="en-US"/>
          </a:p>
        </p:txBody>
      </p:sp>
      <p:sp>
        <p:nvSpPr>
          <p:cNvPr id="10" name="Text 7"/>
          <p:cNvSpPr txBox="1"/>
          <p:nvPr/>
        </p:nvSpPr>
        <p:spPr>
          <a:xfrm>
            <a:off x="3657600" y="1371600"/>
            <a:ext cx="201168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FastAPI backend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/api/*</a:t>
            </a:r>
            <a:endParaRPr lang="en-US" sz="1600" dirty="0"/>
          </a:p>
        </p:txBody>
      </p:sp>
      <p:sp>
        <p:nvSpPr>
          <p:cNvPr id="11" name="Text 8"/>
          <p:cNvSpPr txBox="1"/>
          <p:nvPr/>
        </p:nvSpPr>
        <p:spPr>
          <a:xfrm>
            <a:off x="6035040" y="155448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6492240" y="1280160"/>
            <a:ext cx="2194560" cy="914400"/>
          </a:xfrm>
          <a:prstGeom prst="roundRect">
            <a:avLst>
              <a:gd name="adj" fmla="val 10000"/>
            </a:avLst>
          </a:prstGeom>
          <a:solidFill>
            <a:srgbClr val="12222D"/>
          </a:solidFill>
          <a:ln w="12700">
            <a:solidFill>
              <a:srgbClr val="12222D"/>
            </a:solidFill>
            <a:prstDash val="solid"/>
          </a:ln>
        </p:spPr>
        <p:txBody>
          <a:bodyPr/>
          <a:lstStyle/>
          <a:p>
            <a:endParaRPr lang="en-US"/>
          </a:p>
        </p:txBody>
      </p:sp>
      <p:sp>
        <p:nvSpPr>
          <p:cNvPr id="13" name="Text 10"/>
          <p:cNvSpPr txBox="1"/>
          <p:nvPr/>
        </p:nvSpPr>
        <p:spPr>
          <a:xfrm>
            <a:off x="6675120" y="1371600"/>
            <a:ext cx="182880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Open-Meteo</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forecast + geocode</a:t>
            </a:r>
            <a:endParaRPr lang="en-US" sz="1600" dirty="0"/>
          </a:p>
        </p:txBody>
      </p:sp>
      <p:sp>
        <p:nvSpPr>
          <p:cNvPr id="14" name="Shape 11"/>
          <p:cNvSpPr/>
          <p:nvPr/>
        </p:nvSpPr>
        <p:spPr>
          <a:xfrm>
            <a:off x="457200" y="2514600"/>
            <a:ext cx="2651760" cy="2057400"/>
          </a:xfrm>
          <a:prstGeom prst="roundRect">
            <a:avLst>
              <a:gd name="adj" fmla="val 4444"/>
            </a:avLst>
          </a:prstGeom>
          <a:solidFill>
            <a:srgbClr val="EEF4F8"/>
          </a:solidFill>
          <a:ln w="12700">
            <a:solidFill>
              <a:srgbClr val="EEF4F8"/>
            </a:solidFill>
            <a:prstDash val="solid"/>
          </a:ln>
        </p:spPr>
        <p:txBody>
          <a:bodyPr/>
          <a:lstStyle/>
          <a:p>
            <a:endParaRPr lang="en-US"/>
          </a:p>
        </p:txBody>
      </p:sp>
      <p:sp>
        <p:nvSpPr>
          <p:cNvPr id="15" name="Text 12"/>
          <p:cNvSpPr txBox="1"/>
          <p:nvPr/>
        </p:nvSpPr>
        <p:spPr>
          <a:xfrm>
            <a:off x="640080" y="2606040"/>
            <a:ext cx="2286000" cy="1874520"/>
          </a:xfrm>
          <a:prstGeom prst="rect">
            <a:avLst/>
          </a:prstGeom>
          <a:noFill/>
          <a:ln/>
        </p:spPr>
        <p:txBody>
          <a:bodyPr wrap="square" lIns="0" tIns="0" rIns="0" bIns="0" rtlCol="0" anchor="t"/>
          <a:lstStyle/>
          <a:p>
            <a:pPr marL="0" indent="0">
              <a:buNone/>
            </a:pPr>
            <a:r>
              <a:rPr lang="en-US" sz="1800" b="1" dirty="0">
                <a:solidFill>
                  <a:srgbClr val="2F6B8F"/>
                </a:solidFill>
                <a:latin typeface="Calibri" pitchFamily="34" charset="0"/>
                <a:ea typeface="Calibri" pitchFamily="34" charset="-122"/>
                <a:cs typeface="Calibri" pitchFamily="34" charset="-120"/>
              </a:rPr>
              <a:t>Frontend</a:t>
            </a:r>
            <a:endParaRPr lang="en-US" sz="1600" dirty="0"/>
          </a:p>
          <a:p>
            <a:pPr marL="0" indent="0">
              <a:buNone/>
            </a:pPr>
            <a:r>
              <a:rPr lang="en-US" sz="1450" dirty="0">
                <a:solidFill>
                  <a:srgbClr val="1F2D38"/>
                </a:solidFill>
                <a:latin typeface="Calibri" pitchFamily="34" charset="0"/>
                <a:ea typeface="Calibri" pitchFamily="34" charset="-122"/>
                <a:cs typeface="Calibri" pitchFamily="34" charset="-120"/>
              </a:rPr>
              <a:t>Inputs: city, date, transport, events.</a:t>
            </a:r>
            <a:endParaRPr lang="en-US" sz="1600" dirty="0"/>
          </a:p>
          <a:p>
            <a:pPr marL="0" indent="0">
              <a:buNone/>
            </a:pPr>
            <a:r>
              <a:rPr lang="en-US" sz="1450" dirty="0">
                <a:solidFill>
                  <a:srgbClr val="1F2D38"/>
                </a:solidFill>
                <a:latin typeface="Calibri" pitchFamily="34" charset="0"/>
                <a:ea typeface="Calibri" pitchFamily="34" charset="-122"/>
                <a:cs typeface="Calibri" pitchFamily="34" charset="-120"/>
              </a:rPr>
              <a:t>Shows verdict, chart, stats, feedback buttons.</a:t>
            </a:r>
            <a:endParaRPr lang="en-US" sz="1600" dirty="0"/>
          </a:p>
        </p:txBody>
      </p:sp>
      <p:sp>
        <p:nvSpPr>
          <p:cNvPr id="16" name="Shape 13"/>
          <p:cNvSpPr/>
          <p:nvPr/>
        </p:nvSpPr>
        <p:spPr>
          <a:xfrm>
            <a:off x="3246120" y="2514600"/>
            <a:ext cx="2651760" cy="2057400"/>
          </a:xfrm>
          <a:prstGeom prst="roundRect">
            <a:avLst>
              <a:gd name="adj" fmla="val 4444"/>
            </a:avLst>
          </a:prstGeom>
          <a:solidFill>
            <a:srgbClr val="EEF4F8"/>
          </a:solidFill>
          <a:ln w="12700">
            <a:solidFill>
              <a:srgbClr val="EEF4F8"/>
            </a:solidFill>
            <a:prstDash val="solid"/>
          </a:ln>
        </p:spPr>
        <p:txBody>
          <a:bodyPr/>
          <a:lstStyle/>
          <a:p>
            <a:endParaRPr lang="en-US"/>
          </a:p>
        </p:txBody>
      </p:sp>
      <p:sp>
        <p:nvSpPr>
          <p:cNvPr id="17" name="Text 14"/>
          <p:cNvSpPr txBox="1"/>
          <p:nvPr/>
        </p:nvSpPr>
        <p:spPr>
          <a:xfrm>
            <a:off x="3429000" y="2606040"/>
            <a:ext cx="2286000" cy="1874520"/>
          </a:xfrm>
          <a:prstGeom prst="rect">
            <a:avLst/>
          </a:prstGeom>
          <a:noFill/>
          <a:ln/>
        </p:spPr>
        <p:txBody>
          <a:bodyPr wrap="square" lIns="0" tIns="0" rIns="0" bIns="0" rtlCol="0" anchor="t"/>
          <a:lstStyle/>
          <a:p>
            <a:pPr marL="0" indent="0">
              <a:buNone/>
            </a:pPr>
            <a:r>
              <a:rPr lang="en-US" sz="1800" b="1" dirty="0">
                <a:solidFill>
                  <a:srgbClr val="2F6B8F"/>
                </a:solidFill>
                <a:latin typeface="Calibri" pitchFamily="34" charset="0"/>
                <a:ea typeface="Calibri" pitchFamily="34" charset="-122"/>
                <a:cs typeface="Calibri" pitchFamily="34" charset="-120"/>
              </a:rPr>
              <a:t>Backend</a:t>
            </a:r>
            <a:endParaRPr lang="en-US" sz="1600" dirty="0"/>
          </a:p>
          <a:p>
            <a:pPr marL="0" indent="0">
              <a:buNone/>
            </a:pPr>
            <a:r>
              <a:rPr lang="en-US" sz="1450" dirty="0">
                <a:solidFill>
                  <a:srgbClr val="1F2D38"/>
                </a:solidFill>
                <a:latin typeface="Calibri" pitchFamily="34" charset="0"/>
                <a:ea typeface="Calibri" pitchFamily="34" charset="-122"/>
                <a:cs typeface="Calibri" pitchFamily="34" charset="-120"/>
              </a:rPr>
              <a:t>Rules engine, event classifier, ICS parser, ML update, 30-minute forecast cache.</a:t>
            </a:r>
            <a:endParaRPr lang="en-US" sz="1600" dirty="0"/>
          </a:p>
        </p:txBody>
      </p:sp>
      <p:sp>
        <p:nvSpPr>
          <p:cNvPr id="18" name="Shape 15"/>
          <p:cNvSpPr/>
          <p:nvPr/>
        </p:nvSpPr>
        <p:spPr>
          <a:xfrm>
            <a:off x="6035040" y="2514600"/>
            <a:ext cx="2651760" cy="2057400"/>
          </a:xfrm>
          <a:prstGeom prst="roundRect">
            <a:avLst>
              <a:gd name="adj" fmla="val 4444"/>
            </a:avLst>
          </a:prstGeom>
          <a:solidFill>
            <a:srgbClr val="12222D"/>
          </a:solidFill>
          <a:ln w="12700">
            <a:solidFill>
              <a:srgbClr val="12222D"/>
            </a:solidFill>
            <a:prstDash val="solid"/>
          </a:ln>
        </p:spPr>
        <p:txBody>
          <a:bodyPr/>
          <a:lstStyle/>
          <a:p>
            <a:endParaRPr lang="en-US"/>
          </a:p>
        </p:txBody>
      </p:sp>
      <p:sp>
        <p:nvSpPr>
          <p:cNvPr id="19" name="Text 16"/>
          <p:cNvSpPr txBox="1"/>
          <p:nvPr/>
        </p:nvSpPr>
        <p:spPr>
          <a:xfrm>
            <a:off x="6217920" y="2606040"/>
            <a:ext cx="2286000" cy="1874520"/>
          </a:xfrm>
          <a:prstGeom prst="rect">
            <a:avLst/>
          </a:prstGeom>
          <a:noFill/>
          <a:ln/>
        </p:spPr>
        <p:txBody>
          <a:bodyPr wrap="square" lIns="0" tIns="0" rIns="0" bIns="0" rtlCol="0" anchor="t"/>
          <a:lstStyle/>
          <a:p>
            <a:pPr marL="0" indent="0">
              <a:buNone/>
            </a:pPr>
            <a:r>
              <a:rPr lang="en-US" sz="1800" b="1" dirty="0">
                <a:solidFill>
                  <a:srgbClr val="F2E94E"/>
                </a:solidFill>
                <a:latin typeface="Calibri" pitchFamily="34" charset="0"/>
                <a:ea typeface="Calibri" pitchFamily="34" charset="-122"/>
                <a:cs typeface="Calibri" pitchFamily="34" charset="-120"/>
              </a:rPr>
              <a:t>State</a:t>
            </a:r>
            <a:endParaRPr lang="en-US" sz="1600" dirty="0"/>
          </a:p>
          <a:p>
            <a:pPr marL="0" indent="0">
              <a:buNone/>
            </a:pPr>
            <a:r>
              <a:rPr lang="en-US" sz="1450" dirty="0">
                <a:solidFill>
                  <a:srgbClr val="FFFFFF"/>
                </a:solidFill>
                <a:latin typeface="Calibri" pitchFamily="34" charset="0"/>
                <a:ea typeface="Calibri" pitchFamily="34" charset="-122"/>
                <a:cs typeface="Calibri" pitchFamily="34" charset="-120"/>
              </a:rPr>
              <a:t>Stateless server. Settings and ML weights live in the browser's localStorage.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End-to-end workflow</a:t>
            </a:r>
            <a:endParaRPr lang="en-US" sz="2800" dirty="0"/>
          </a:p>
        </p:txBody>
      </p:sp>
      <p:sp>
        <p:nvSpPr>
          <p:cNvPr id="6" name="Shape 3"/>
          <p:cNvSpPr/>
          <p:nvPr/>
        </p:nvSpPr>
        <p:spPr>
          <a:xfrm>
            <a:off x="457200" y="1280160"/>
            <a:ext cx="1280160" cy="731520"/>
          </a:xfrm>
          <a:prstGeom prst="roundRect">
            <a:avLst>
              <a:gd name="adj" fmla="val 12500"/>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 Input</a:t>
            </a:r>
            <a:endParaRPr lang="en-US" sz="1300" dirty="0"/>
          </a:p>
        </p:txBody>
      </p:sp>
      <p:sp>
        <p:nvSpPr>
          <p:cNvPr id="8" name="Shape 5"/>
          <p:cNvSpPr/>
          <p:nvPr/>
        </p:nvSpPr>
        <p:spPr>
          <a:xfrm>
            <a:off x="1828800" y="1280160"/>
            <a:ext cx="1280160" cy="731520"/>
          </a:xfrm>
          <a:prstGeom prst="roundRect">
            <a:avLst>
              <a:gd name="adj" fmla="val 12500"/>
            </a:avLst>
          </a:prstGeom>
          <a:solidFill>
            <a:srgbClr val="2F6B8F"/>
          </a:solidFill>
          <a:ln w="12700">
            <a:solidFill>
              <a:srgbClr val="2F6B8F"/>
            </a:solidFill>
            <a:prstDash val="solid"/>
          </a:ln>
        </p:spPr>
        <p:txBody>
          <a:bodyPr/>
          <a:lstStyle/>
          <a:p>
            <a:endParaRPr lang="en-US"/>
          </a:p>
        </p:txBody>
      </p:sp>
      <p:sp>
        <p:nvSpPr>
          <p:cNvPr id="9" name="Text 6"/>
          <p:cNvSpPr txBox="1"/>
          <p:nvPr/>
        </p:nvSpPr>
        <p:spPr>
          <a:xfrm>
            <a:off x="20116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 Fetch forecast</a:t>
            </a:r>
            <a:endParaRPr lang="en-US" sz="1300" dirty="0"/>
          </a:p>
        </p:txBody>
      </p:sp>
      <p:sp>
        <p:nvSpPr>
          <p:cNvPr id="10" name="Shape 7"/>
          <p:cNvSpPr/>
          <p:nvPr/>
        </p:nvSpPr>
        <p:spPr>
          <a:xfrm>
            <a:off x="3200400" y="1280160"/>
            <a:ext cx="1280160" cy="731520"/>
          </a:xfrm>
          <a:prstGeom prst="roundRect">
            <a:avLst>
              <a:gd name="adj" fmla="val 12500"/>
            </a:avLst>
          </a:prstGeom>
          <a:solidFill>
            <a:srgbClr val="12222D"/>
          </a:solidFill>
          <a:ln w="12700">
            <a:solidFill>
              <a:srgbClr val="12222D"/>
            </a:solidFill>
            <a:prstDash val="solid"/>
          </a:ln>
        </p:spPr>
        <p:txBody>
          <a:bodyPr/>
          <a:lstStyle/>
          <a:p>
            <a:endParaRPr lang="en-US"/>
          </a:p>
        </p:txBody>
      </p:sp>
      <p:sp>
        <p:nvSpPr>
          <p:cNvPr id="11" name="Text 8"/>
          <p:cNvSpPr txBox="1"/>
          <p:nvPr/>
        </p:nvSpPr>
        <p:spPr>
          <a:xfrm>
            <a:off x="33832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Classify events</a:t>
            </a:r>
            <a:endParaRPr lang="en-US" sz="1300" dirty="0"/>
          </a:p>
        </p:txBody>
      </p:sp>
      <p:sp>
        <p:nvSpPr>
          <p:cNvPr id="12" name="Shape 9"/>
          <p:cNvSpPr/>
          <p:nvPr/>
        </p:nvSpPr>
        <p:spPr>
          <a:xfrm>
            <a:off x="4572000" y="1280160"/>
            <a:ext cx="1280160" cy="731520"/>
          </a:xfrm>
          <a:prstGeom prst="roundRect">
            <a:avLst>
              <a:gd name="adj" fmla="val 12500"/>
            </a:avLst>
          </a:prstGeom>
          <a:solidFill>
            <a:srgbClr val="2F6B8F"/>
          </a:solidFill>
          <a:ln w="12700">
            <a:solidFill>
              <a:srgbClr val="2F6B8F"/>
            </a:solidFill>
            <a:prstDash val="solid"/>
          </a:ln>
        </p:spPr>
        <p:txBody>
          <a:bodyPr/>
          <a:lstStyle/>
          <a:p>
            <a:endParaRPr lang="en-US"/>
          </a:p>
        </p:txBody>
      </p:sp>
      <p:sp>
        <p:nvSpPr>
          <p:cNvPr id="13" name="Text 10"/>
          <p:cNvSpPr txBox="1"/>
          <p:nvPr/>
        </p:nvSpPr>
        <p:spPr>
          <a:xfrm>
            <a:off x="47548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 Exposure windows</a:t>
            </a:r>
            <a:endParaRPr lang="en-US" sz="1300" dirty="0"/>
          </a:p>
        </p:txBody>
      </p:sp>
      <p:sp>
        <p:nvSpPr>
          <p:cNvPr id="14" name="Shape 11"/>
          <p:cNvSpPr/>
          <p:nvPr/>
        </p:nvSpPr>
        <p:spPr>
          <a:xfrm>
            <a:off x="5943600" y="1280160"/>
            <a:ext cx="1280160" cy="731520"/>
          </a:xfrm>
          <a:prstGeom prst="roundRect">
            <a:avLst>
              <a:gd name="adj" fmla="val 12500"/>
            </a:avLst>
          </a:prstGeom>
          <a:solidFill>
            <a:srgbClr val="12222D"/>
          </a:solidFill>
          <a:ln w="12700">
            <a:solidFill>
              <a:srgbClr val="12222D"/>
            </a:solidFill>
            <a:prstDash val="solid"/>
          </a:ln>
        </p:spPr>
        <p:txBody>
          <a:bodyPr/>
          <a:lstStyle/>
          <a:p>
            <a:endParaRPr lang="en-US"/>
          </a:p>
        </p:txBody>
      </p:sp>
      <p:sp>
        <p:nvSpPr>
          <p:cNvPr id="15" name="Text 12"/>
          <p:cNvSpPr txBox="1"/>
          <p:nvPr/>
        </p:nvSpPr>
        <p:spPr>
          <a:xfrm>
            <a:off x="61264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 Rules + ML offset</a:t>
            </a:r>
            <a:endParaRPr lang="en-US" sz="1300" dirty="0"/>
          </a:p>
        </p:txBody>
      </p:sp>
      <p:sp>
        <p:nvSpPr>
          <p:cNvPr id="16" name="Shape 13"/>
          <p:cNvSpPr/>
          <p:nvPr/>
        </p:nvSpPr>
        <p:spPr>
          <a:xfrm>
            <a:off x="7315200" y="1280160"/>
            <a:ext cx="1280160" cy="731520"/>
          </a:xfrm>
          <a:prstGeom prst="roundRect">
            <a:avLst>
              <a:gd name="adj" fmla="val 12500"/>
            </a:avLst>
          </a:prstGeom>
          <a:solidFill>
            <a:srgbClr val="2F6B8F"/>
          </a:solidFill>
          <a:ln w="12700">
            <a:solidFill>
              <a:srgbClr val="2F6B8F"/>
            </a:solidFill>
            <a:prstDash val="solid"/>
          </a:ln>
        </p:spPr>
        <p:txBody>
          <a:bodyPr/>
          <a:lstStyle/>
          <a:p>
            <a:endParaRPr lang="en-US"/>
          </a:p>
        </p:txBody>
      </p:sp>
      <p:sp>
        <p:nvSpPr>
          <p:cNvPr id="17" name="Text 14"/>
          <p:cNvSpPr txBox="1"/>
          <p:nvPr/>
        </p:nvSpPr>
        <p:spPr>
          <a:xfrm>
            <a:off x="7498080" y="1371600"/>
            <a:ext cx="914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 Verdict</a:t>
            </a:r>
            <a:endParaRPr lang="en-US" sz="1300" dirty="0"/>
          </a:p>
        </p:txBody>
      </p:sp>
      <p:sp>
        <p:nvSpPr>
          <p:cNvPr id="18" name="Text 15"/>
          <p:cNvSpPr txBox="1"/>
          <p:nvPr/>
        </p:nvSpPr>
        <p:spPr>
          <a:xfrm>
            <a:off x="457200" y="2286000"/>
            <a:ext cx="8229600" cy="2377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D38"/>
                </a:solidFill>
              </a:rPr>
              <a:t>Input: city, day, transport and events (typed, or parsed from .ics by /api/ics).</a:t>
            </a:r>
            <a:endParaRPr lang="en-US" sz="1400" dirty="0"/>
          </a:p>
          <a:p>
            <a:pPr marL="342900" indent="-342900">
              <a:spcAft>
                <a:spcPts val="500"/>
              </a:spcAft>
              <a:buSzPct val="100000"/>
              <a:buChar char="•"/>
            </a:pPr>
            <a:r>
              <a:rPr lang="en-US" sz="1400" dirty="0">
                <a:solidFill>
                  <a:srgbClr val="1F2D38"/>
                </a:solidFill>
              </a:rPr>
              <a:t>Backend fetches 3 days of hourly weather (temp, feels-like, rain, wind, UV, cloud), cached by location.</a:t>
            </a:r>
            <a:endParaRPr lang="en-US" sz="1400" dirty="0"/>
          </a:p>
          <a:p>
            <a:pPr marL="342900" indent="-342900">
              <a:spcAft>
                <a:spcPts val="500"/>
              </a:spcAft>
              <a:buSzPct val="100000"/>
              <a:buChar char="•"/>
            </a:pPr>
            <a:r>
              <a:rPr lang="en-US" sz="1400" dirty="0">
                <a:solidFill>
                  <a:srgbClr val="1F2D38"/>
                </a:solidFill>
              </a:rPr>
              <a:t>Each event is tagged outdoor/indoor and sport/casual/smart/formal from its title and location.</a:t>
            </a:r>
            <a:endParaRPr lang="en-US" sz="1400" dirty="0"/>
          </a:p>
          <a:p>
            <a:pPr marL="342900" indent="-342900">
              <a:spcAft>
                <a:spcPts val="500"/>
              </a:spcAft>
              <a:buSzPct val="100000"/>
              <a:buChar char="•"/>
            </a:pPr>
            <a:r>
              <a:rPr lang="en-US" sz="1400" dirty="0">
                <a:solidFill>
                  <a:srgbClr val="1F2D38"/>
                </a:solidFill>
              </a:rPr>
              <a:t>Only the hours when you are outside are summarised: commute there, the event if outdoors, commute back.</a:t>
            </a:r>
            <a:endParaRPr lang="en-US" sz="1400" dirty="0"/>
          </a:p>
          <a:p>
            <a:pPr marL="342900" indent="-342900">
              <a:spcAft>
                <a:spcPts val="500"/>
              </a:spcAft>
              <a:buSzPct val="100000"/>
              <a:buChar char="•"/>
            </a:pPr>
            <a:r>
              <a:rPr lang="en-US" sz="1400" dirty="0">
                <a:solidFill>
                  <a:srgbClr val="1F2D38"/>
                </a:solidFill>
              </a:rPr>
              <a:t>Clothing bands and rules run on the 'effective temperature' (feels-like + activity − personal offset).</a:t>
            </a:r>
            <a:endParaRPr lang="en-US" sz="1400" dirty="0"/>
          </a:p>
          <a:p>
            <a:pPr marL="342900" indent="-342900">
              <a:spcAft>
                <a:spcPts val="500"/>
              </a:spcAft>
              <a:buSzPct val="100000"/>
              <a:buChar char="•"/>
            </a:pPr>
            <a:r>
              <a:rPr lang="en-US" sz="1400" dirty="0">
                <a:solidFill>
                  <a:srgbClr val="1F2D38"/>
                </a:solidFill>
              </a:rPr>
              <a:t>Frontend shows headline, Wear/Bring/Avoid chips, hourly chart; a vote trains the ML model.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Rule-based 1: events and exposure windows</a:t>
            </a:r>
            <a:endParaRPr lang="en-US" sz="2800" dirty="0"/>
          </a:p>
        </p:txBody>
      </p:sp>
      <p:sp>
        <p:nvSpPr>
          <p:cNvPr id="6" name="Shape 3"/>
          <p:cNvSpPr/>
          <p:nvPr/>
        </p:nvSpPr>
        <p:spPr>
          <a:xfrm>
            <a:off x="457200" y="1280160"/>
            <a:ext cx="4023360" cy="3291840"/>
          </a:xfrm>
          <a:prstGeom prst="roundRect">
            <a:avLst>
              <a:gd name="adj" fmla="val 2778"/>
            </a:avLst>
          </a:prstGeom>
          <a:solidFill>
            <a:srgbClr val="EEF4F8"/>
          </a:solidFill>
          <a:ln w="12700">
            <a:solidFill>
              <a:srgbClr val="EEF4F8"/>
            </a:solidFill>
            <a:prstDash val="solid"/>
          </a:ln>
        </p:spPr>
        <p:txBody>
          <a:bodyPr/>
          <a:lstStyle/>
          <a:p>
            <a:endParaRPr lang="en-US"/>
          </a:p>
        </p:txBody>
      </p:sp>
      <p:sp>
        <p:nvSpPr>
          <p:cNvPr id="7" name="Text 4"/>
          <p:cNvSpPr txBox="1"/>
          <p:nvPr/>
        </p:nvSpPr>
        <p:spPr>
          <a:xfrm>
            <a:off x="640080" y="1371600"/>
            <a:ext cx="3657600" cy="3108960"/>
          </a:xfrm>
          <a:prstGeom prst="rect">
            <a:avLst/>
          </a:prstGeom>
          <a:noFill/>
          <a:ln/>
        </p:spPr>
        <p:txBody>
          <a:bodyPr wrap="square" lIns="0" tIns="0" rIns="0" bIns="0" rtlCol="0" anchor="t"/>
          <a:lstStyle/>
          <a:p>
            <a:pPr marL="0" indent="0">
              <a:buNone/>
            </a:pPr>
            <a:r>
              <a:rPr lang="en-US" sz="1800" b="1" dirty="0">
                <a:solidFill>
                  <a:srgbClr val="2F6B8F"/>
                </a:solidFill>
                <a:latin typeface="Calibri" pitchFamily="34" charset="0"/>
                <a:ea typeface="Calibri" pitchFamily="34" charset="-122"/>
                <a:cs typeface="Calibri" pitchFamily="34" charset="-120"/>
              </a:rPr>
              <a:t>Keyword classification</a:t>
            </a:r>
            <a:endParaRPr lang="en-US" sz="1600" dirty="0"/>
          </a:p>
          <a:p>
            <a:pPr marL="0" indent="0">
              <a:spcAft>
                <a:spcPts val="800"/>
              </a:spcAft>
              <a:buNone/>
            </a:pPr>
            <a:r>
              <a:rPr lang="en-US" sz="1400" dirty="0">
                <a:solidFill>
                  <a:srgbClr val="1F2D38"/>
                </a:solidFill>
                <a:latin typeface="Calibri" pitchFamily="34" charset="0"/>
                <a:ea typeface="Calibri" pitchFamily="34" charset="-122"/>
                <a:cs typeface="Calibri" pitchFamily="34" charset="-120"/>
              </a:rPr>
              <a:t>Lists of Swedish/English words (park, löp, bröllop, dinner, möte ...).</a:t>
            </a:r>
            <a:endParaRPr lang="en-US" sz="1600" dirty="0"/>
          </a:p>
          <a:p>
            <a:pPr marL="0" indent="0">
              <a:buNone/>
            </a:pPr>
            <a:r>
              <a:rPr lang="en-US" sz="1400" b="1" dirty="0">
                <a:solidFill>
                  <a:srgbClr val="1F2D38"/>
                </a:solidFill>
                <a:latin typeface="Calibri" pitchFamily="34" charset="0"/>
                <a:ea typeface="Calibri" pitchFamily="34" charset="-122"/>
                <a:cs typeface="Calibri" pitchFamily="34" charset="-120"/>
              </a:rPr>
              <a:t>Output per event:</a:t>
            </a:r>
            <a:endParaRPr lang="en-US" sz="1600" dirty="0"/>
          </a:p>
          <a:p>
            <a:pPr marL="342900" indent="-342900">
              <a:spcAft>
                <a:spcPts val="500"/>
              </a:spcAft>
              <a:buSzPct val="100000"/>
              <a:buChar char="•"/>
            </a:pPr>
            <a:r>
              <a:rPr lang="en-US" sz="1400" dirty="0">
                <a:solidFill>
                  <a:srgbClr val="1F2D38"/>
                </a:solidFill>
                <a:latin typeface="Calibri" pitchFamily="34" charset="0"/>
                <a:ea typeface="Calibri" pitchFamily="34" charset="-122"/>
                <a:cs typeface="Calibri" pitchFamily="34" charset="-120"/>
              </a:rPr>
              <a:t>outdoor: true/false</a:t>
            </a:r>
            <a:endParaRPr lang="en-US" sz="1600" dirty="0"/>
          </a:p>
          <a:p>
            <a:pPr marL="342900" indent="-342900">
              <a:spcAft>
                <a:spcPts val="500"/>
              </a:spcAft>
              <a:buSzPct val="100000"/>
              <a:buChar char="•"/>
            </a:pPr>
            <a:r>
              <a:rPr lang="en-US" sz="1400" dirty="0">
                <a:solidFill>
                  <a:srgbClr val="1F2D38"/>
                </a:solidFill>
                <a:latin typeface="Calibri" pitchFamily="34" charset="0"/>
                <a:ea typeface="Calibri" pitchFamily="34" charset="-122"/>
                <a:cs typeface="Calibri" pitchFamily="34" charset="-120"/>
              </a:rPr>
              <a:t>dress: sport / casual / smart / formal</a:t>
            </a:r>
            <a:endParaRPr lang="en-US" sz="1600" dirty="0"/>
          </a:p>
          <a:p>
            <a:pPr marL="342900" indent="-342900">
              <a:spcAft>
                <a:spcPts val="500"/>
              </a:spcAft>
              <a:buSzPct val="100000"/>
              <a:buChar char="•"/>
            </a:pPr>
            <a:r>
              <a:rPr lang="en-US" sz="1400" dirty="0">
                <a:solidFill>
                  <a:srgbClr val="1F2D38"/>
                </a:solidFill>
                <a:latin typeface="Calibri" pitchFamily="34" charset="0"/>
                <a:ea typeface="Calibri" pitchFamily="34" charset="-122"/>
                <a:cs typeface="Calibri" pitchFamily="34" charset="-120"/>
              </a:rPr>
              <a:t>kind: sport / outdoor / work / social / other</a:t>
            </a:r>
            <a:endParaRPr lang="en-US" sz="1600" dirty="0"/>
          </a:p>
          <a:p>
            <a:pPr marL="0" indent="0">
              <a:buNone/>
            </a:pPr>
            <a:r>
              <a:rPr lang="en-US" sz="1400" dirty="0">
                <a:solidFill>
                  <a:srgbClr val="1F2D38"/>
                </a:solidFill>
                <a:latin typeface="Calibri" pitchFamily="34" charset="0"/>
                <a:ea typeface="Calibri" pitchFamily="34" charset="-122"/>
                <a:cs typeface="Calibri" pitchFamily="34" charset="-120"/>
              </a:rPr>
              <a:t>The dressiest event of the day sets the day's dress code.</a:t>
            </a:r>
            <a:endParaRPr lang="en-US" sz="1600" dirty="0"/>
          </a:p>
        </p:txBody>
      </p:sp>
      <p:sp>
        <p:nvSpPr>
          <p:cNvPr id="8" name="Shape 5"/>
          <p:cNvSpPr/>
          <p:nvPr/>
        </p:nvSpPr>
        <p:spPr>
          <a:xfrm>
            <a:off x="4663440" y="1280160"/>
            <a:ext cx="4023360" cy="3291840"/>
          </a:xfrm>
          <a:prstGeom prst="roundRect">
            <a:avLst>
              <a:gd name="adj" fmla="val 2778"/>
            </a:avLst>
          </a:prstGeom>
          <a:solidFill>
            <a:srgbClr val="12222D"/>
          </a:solidFill>
          <a:ln w="12700">
            <a:solidFill>
              <a:srgbClr val="12222D"/>
            </a:solidFill>
            <a:prstDash val="solid"/>
          </a:ln>
        </p:spPr>
        <p:txBody>
          <a:bodyPr/>
          <a:lstStyle/>
          <a:p>
            <a:endParaRPr lang="en-US"/>
          </a:p>
        </p:txBody>
      </p:sp>
      <p:sp>
        <p:nvSpPr>
          <p:cNvPr id="9" name="Text 6"/>
          <p:cNvSpPr txBox="1"/>
          <p:nvPr/>
        </p:nvSpPr>
        <p:spPr>
          <a:xfrm>
            <a:off x="4846320" y="1371600"/>
            <a:ext cx="3657600" cy="3108960"/>
          </a:xfrm>
          <a:prstGeom prst="rect">
            <a:avLst/>
          </a:prstGeom>
          <a:noFill/>
          <a:ln/>
        </p:spPr>
        <p:txBody>
          <a:bodyPr wrap="square" lIns="0" tIns="0" rIns="0" bIns="0" rtlCol="0" anchor="t"/>
          <a:lstStyle/>
          <a:p>
            <a:pPr marL="0" indent="0">
              <a:buNone/>
            </a:pPr>
            <a:r>
              <a:rPr lang="en-US" sz="1800" b="1" dirty="0">
                <a:solidFill>
                  <a:srgbClr val="F2E94E"/>
                </a:solidFill>
                <a:latin typeface="Calibri" pitchFamily="34" charset="0"/>
                <a:ea typeface="Calibri" pitchFamily="34" charset="-122"/>
                <a:cs typeface="Calibri" pitchFamily="34" charset="-120"/>
              </a:rPr>
              <a:t>Exposure windows</a:t>
            </a:r>
            <a:endParaRPr lang="en-US" sz="1600" dirty="0"/>
          </a:p>
          <a:p>
            <a:pPr marL="0" indent="0">
              <a:spcAft>
                <a:spcPts val="800"/>
              </a:spcAft>
              <a:buNone/>
            </a:pPr>
            <a:r>
              <a:rPr lang="en-US" sz="1400" dirty="0">
                <a:solidFill>
                  <a:srgbClr val="FFFFFF"/>
                </a:solidFill>
                <a:latin typeface="Calibri" pitchFamily="34" charset="0"/>
                <a:ea typeface="Calibri" pitchFamily="34" charset="-122"/>
                <a:cs typeface="Calibri" pitchFamily="34" charset="-120"/>
              </a:rPr>
              <a:t>Time spent outside depends on transport:</a:t>
            </a:r>
            <a:endParaRPr lang="en-US" sz="1600" dirty="0"/>
          </a:p>
          <a:p>
            <a:pPr marL="0" indent="0">
              <a:spcAft>
                <a:spcPts val="800"/>
              </a:spcAft>
              <a:buNone/>
            </a:pPr>
            <a:r>
              <a:rPr lang="en-US" sz="1400" dirty="0">
                <a:solidFill>
                  <a:srgbClr val="FFFFFF"/>
                </a:solidFill>
                <a:latin typeface="Calibri" pitchFamily="34" charset="0"/>
                <a:ea typeface="Calibri" pitchFamily="34" charset="-122"/>
                <a:cs typeface="Calibri" pitchFamily="34" charset="-120"/>
              </a:rPr>
              <a:t>walk 20 min, bike 20, transit 15, car 5.</a:t>
            </a:r>
            <a:endParaRPr lang="en-US" sz="1600" dirty="0"/>
          </a:p>
          <a:p>
            <a:pPr marL="0" indent="0">
              <a:spcAft>
                <a:spcPts val="800"/>
              </a:spcAft>
              <a:buNone/>
            </a:pPr>
            <a:r>
              <a:rPr lang="en-US" sz="1400" dirty="0">
                <a:solidFill>
                  <a:srgbClr val="FFFFFF"/>
                </a:solidFill>
                <a:latin typeface="Calibri" pitchFamily="34" charset="0"/>
                <a:ea typeface="Calibri" pitchFamily="34" charset="-122"/>
                <a:cs typeface="Calibri" pitchFamily="34" charset="-120"/>
              </a:rPr>
              <a:t>Windows = (start − exposure → start) and (end → end + exposure), plus the event itself if outdoors.</a:t>
            </a:r>
            <a:endParaRPr lang="en-US" sz="1600" dirty="0"/>
          </a:p>
          <a:p>
            <a:pPr marL="0" indent="0">
              <a:buNone/>
            </a:pPr>
            <a:r>
              <a:rPr lang="en-US" sz="1400" dirty="0">
                <a:solidFill>
                  <a:srgbClr val="FFFFFF"/>
                </a:solidFill>
                <a:latin typeface="Calibri" pitchFamily="34" charset="0"/>
                <a:ea typeface="Calibri" pitchFamily="34" charset="-122"/>
                <a:cs typeface="Calibri" pitchFamily="34" charset="-120"/>
              </a:rPr>
              <a:t>No events? Judge a typical commute (07:30-09:00 and 16:30-18:00).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cord_2026-10-17_02-48-59">
            <a:hlinkClick r:id="" action="ppaction://media"/>
            <a:extLst>
              <a:ext uri="{FF2B5EF4-FFF2-40B4-BE49-F238E27FC236}">
                <a16:creationId xmlns:a16="http://schemas.microsoft.com/office/drawing/2014/main" id="{912D734F-8011-CB27-921D-877976342F0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6042"/>
            <a:ext cx="9144000" cy="5143500"/>
          </a:xfrm>
          <a:prstGeom prst="rect">
            <a:avLst/>
          </a:prstGeom>
        </p:spPr>
      </p:pic>
    </p:spTree>
    <p:extLst>
      <p:ext uri="{BB962C8B-B14F-4D97-AF65-F5344CB8AC3E}">
        <p14:creationId xmlns:p14="http://schemas.microsoft.com/office/powerpoint/2010/main" val="113587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6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Rule-based 2: clothing bands</a:t>
            </a:r>
            <a:endParaRPr lang="en-US" sz="2800" dirty="0"/>
          </a:p>
        </p:txBody>
      </p:sp>
      <p:sp>
        <p:nvSpPr>
          <p:cNvPr id="6" name="Shape 3"/>
          <p:cNvSpPr/>
          <p:nvPr/>
        </p:nvSpPr>
        <p:spPr>
          <a:xfrm>
            <a:off x="457200" y="1188720"/>
            <a:ext cx="8229600" cy="457200"/>
          </a:xfrm>
          <a:prstGeom prst="roundRect">
            <a:avLst>
              <a:gd name="adj" fmla="val 20000"/>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280160"/>
            <a:ext cx="7863840" cy="274320"/>
          </a:xfrm>
          <a:prstGeom prst="rect">
            <a:avLst/>
          </a:prstGeom>
          <a:noFill/>
          <a:ln/>
        </p:spPr>
        <p:txBody>
          <a:bodyPr wrap="square" lIns="0" tIns="0" rIns="0" bIns="0" rtlCol="0" anchor="ctr"/>
          <a:lstStyle/>
          <a:p>
            <a:pPr marL="0" indent="0" algn="ctr">
              <a:buNone/>
            </a:pPr>
            <a:r>
              <a:rPr lang="en-US" sz="1500" b="1" dirty="0">
                <a:solidFill>
                  <a:srgbClr val="F2E94E"/>
                </a:solidFill>
                <a:latin typeface="Calibri" pitchFamily="34" charset="0"/>
                <a:ea typeface="Calibri" pitchFamily="34" charset="-122"/>
                <a:cs typeface="Calibri" pitchFamily="34" charset="-120"/>
              </a:rPr>
              <a:t>effective = feels-like (coldest hour) + activity adjustment − personal offset</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5303520" cy="2715768"/>
        </p:xfrm>
        <a:graphic>
          <a:graphicData uri="http://schemas.openxmlformats.org/drawingml/2006/table">
            <a:tbl>
              <a:tblPr/>
              <a:tblGrid>
                <a:gridCol w="14630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0175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Effective temp</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12222D"/>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Garments (first match wins)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12222D"/>
                    </a:solidFill>
                  </a:tcPr>
                </a:tc>
                <a:extLst>
                  <a:ext uri="{0D108BD9-81ED-4DB2-BD59-A6C34878D82A}">
                    <a16:rowId xmlns:a16="http://schemas.microsoft.com/office/drawing/2014/main" val="10000"/>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Up to −15 °C</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Thermal layer, down jacket, winter boots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1"/>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−15 to −5</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Sweater, winter coat, winter boots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−5 to 2</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Sweater, warm coat, boots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3"/>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2 to 8</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Sweater, jacket, boots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8 to 13</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Long sleeve, light jacket, sneakers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5"/>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13 to 18</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Long sleeve, sneakers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18 to 24</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T-shirt, sneakers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7"/>
                  </a:ext>
                </a:extLst>
              </a:tr>
              <a:tr h="301752">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Above 24</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250" dirty="0">
                          <a:solidFill>
                            <a:srgbClr val="1F2D38"/>
                          </a:solidFill>
                          <a:latin typeface="Calibri" pitchFamily="34" charset="0"/>
                          <a:ea typeface="Calibri" pitchFamily="34" charset="-122"/>
                          <a:cs typeface="Calibri" pitchFamily="34" charset="-120"/>
                        </a:rPr>
                        <a:t>T-shirt, shorts, sneakers</a:t>
                      </a:r>
                      <a:endParaRPr lang="en-US" sz="125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 name="Shape 5"/>
          <p:cNvSpPr/>
          <p:nvPr/>
        </p:nvSpPr>
        <p:spPr>
          <a:xfrm>
            <a:off x="5943600" y="1783080"/>
            <a:ext cx="2743200" cy="2788920"/>
          </a:xfrm>
          <a:prstGeom prst="roundRect">
            <a:avLst>
              <a:gd name="adj" fmla="val 3333"/>
            </a:avLst>
          </a:prstGeom>
          <a:solidFill>
            <a:srgbClr val="12222D"/>
          </a:solidFill>
          <a:ln w="12700">
            <a:solidFill>
              <a:srgbClr val="12222D"/>
            </a:solidFill>
            <a:prstDash val="solid"/>
          </a:ln>
        </p:spPr>
        <p:txBody>
          <a:bodyPr/>
          <a:lstStyle/>
          <a:p>
            <a:endParaRPr lang="en-US"/>
          </a:p>
        </p:txBody>
      </p:sp>
      <p:sp>
        <p:nvSpPr>
          <p:cNvPr id="5" name="Text 6"/>
          <p:cNvSpPr txBox="1"/>
          <p:nvPr/>
        </p:nvSpPr>
        <p:spPr>
          <a:xfrm>
            <a:off x="6126480" y="1874520"/>
            <a:ext cx="2377440" cy="2606040"/>
          </a:xfrm>
          <a:prstGeom prst="rect">
            <a:avLst/>
          </a:prstGeom>
          <a:noFill/>
          <a:ln/>
        </p:spPr>
        <p:txBody>
          <a:bodyPr wrap="square" lIns="0" tIns="0" rIns="0" bIns="0" rtlCol="0" anchor="t"/>
          <a:lstStyle/>
          <a:p>
            <a:pPr marL="0" indent="0">
              <a:buNone/>
            </a:pPr>
            <a:r>
              <a:rPr lang="en-US" sz="1800" b="1" dirty="0">
                <a:solidFill>
                  <a:srgbClr val="F2E94E"/>
                </a:solidFill>
                <a:latin typeface="Calibri" pitchFamily="34" charset="0"/>
                <a:ea typeface="Calibri" pitchFamily="34" charset="-122"/>
                <a:cs typeface="Calibri" pitchFamily="34" charset="-120"/>
              </a:rPr>
              <a:t>Adjustments</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Activity: bike −1°, car +4°.</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Sport: +6° for clothing.</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Hat ≤ 5°, gloves ≤ 2°, scarf ≤ −5°.</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Dress codes swap garments: jacket → wool coat, sneakers → dress shoes.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Rule-based 3: weather rules and text</a:t>
            </a:r>
            <a:endParaRPr lang="en-US" sz="2800" dirty="0"/>
          </a:p>
        </p:txBody>
      </p:sp>
      <p:sp>
        <p:nvSpPr>
          <p:cNvPr id="6" name="Shape 3"/>
          <p:cNvSpPr/>
          <p:nvPr/>
        </p:nvSpPr>
        <p:spPr>
          <a:xfrm>
            <a:off x="457200" y="1280160"/>
            <a:ext cx="1828800" cy="640080"/>
          </a:xfrm>
          <a:prstGeom prst="roundRect">
            <a:avLst>
              <a:gd name="adj" fmla="val 14286"/>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371600"/>
            <a:ext cx="1463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Facts (engine)</a:t>
            </a:r>
            <a:endParaRPr lang="en-US" sz="1400" dirty="0"/>
          </a:p>
        </p:txBody>
      </p:sp>
      <p:sp>
        <p:nvSpPr>
          <p:cNvPr id="8" name="Text 5"/>
          <p:cNvSpPr txBox="1"/>
          <p:nvPr/>
        </p:nvSpPr>
        <p:spPr>
          <a:xfrm>
            <a:off x="2240280" y="141732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2560320" y="1280160"/>
            <a:ext cx="1828800" cy="640080"/>
          </a:xfrm>
          <a:prstGeom prst="roundRect">
            <a:avLst>
              <a:gd name="adj" fmla="val 14286"/>
            </a:avLst>
          </a:prstGeom>
          <a:solidFill>
            <a:srgbClr val="2F6B8F"/>
          </a:solidFill>
          <a:ln w="12700">
            <a:solidFill>
              <a:srgbClr val="2F6B8F"/>
            </a:solidFill>
            <a:prstDash val="solid"/>
          </a:ln>
        </p:spPr>
        <p:txBody>
          <a:bodyPr/>
          <a:lstStyle/>
          <a:p>
            <a:endParaRPr lang="en-US"/>
          </a:p>
        </p:txBody>
      </p:sp>
      <p:sp>
        <p:nvSpPr>
          <p:cNvPr id="10" name="Text 7"/>
          <p:cNvSpPr txBox="1"/>
          <p:nvPr/>
        </p:nvSpPr>
        <p:spPr>
          <a:xfrm>
            <a:off x="2743200" y="1371600"/>
            <a:ext cx="1463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Situation label</a:t>
            </a:r>
            <a:endParaRPr lang="en-US" sz="1400" dirty="0"/>
          </a:p>
        </p:txBody>
      </p:sp>
      <p:sp>
        <p:nvSpPr>
          <p:cNvPr id="11" name="Text 8"/>
          <p:cNvSpPr txBox="1"/>
          <p:nvPr/>
        </p:nvSpPr>
        <p:spPr>
          <a:xfrm>
            <a:off x="4343400" y="141732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4663440" y="1280160"/>
            <a:ext cx="1828800" cy="640080"/>
          </a:xfrm>
          <a:prstGeom prst="roundRect">
            <a:avLst>
              <a:gd name="adj" fmla="val 14286"/>
            </a:avLst>
          </a:prstGeom>
          <a:solidFill>
            <a:srgbClr val="12222D"/>
          </a:solidFill>
          <a:ln w="12700">
            <a:solidFill>
              <a:srgbClr val="12222D"/>
            </a:solidFill>
            <a:prstDash val="solid"/>
          </a:ln>
        </p:spPr>
        <p:txBody>
          <a:bodyPr/>
          <a:lstStyle/>
          <a:p>
            <a:endParaRPr lang="en-US"/>
          </a:p>
        </p:txBody>
      </p:sp>
      <p:sp>
        <p:nvSpPr>
          <p:cNvPr id="13" name="Text 10"/>
          <p:cNvSpPr txBox="1"/>
          <p:nvPr/>
        </p:nvSpPr>
        <p:spPr>
          <a:xfrm>
            <a:off x="4846320" y="1371600"/>
            <a:ext cx="1463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Template (texts.py)</a:t>
            </a:r>
            <a:endParaRPr lang="en-US" sz="1400" dirty="0"/>
          </a:p>
        </p:txBody>
      </p:sp>
      <p:sp>
        <p:nvSpPr>
          <p:cNvPr id="14" name="Text 11"/>
          <p:cNvSpPr txBox="1"/>
          <p:nvPr/>
        </p:nvSpPr>
        <p:spPr>
          <a:xfrm>
            <a:off x="6446520" y="1417320"/>
            <a:ext cx="365760" cy="365760"/>
          </a:xfrm>
          <a:prstGeom prst="rect">
            <a:avLst/>
          </a:prstGeom>
          <a:noFill/>
          <a:ln/>
        </p:spPr>
        <p:txBody>
          <a:bodyPr wrap="square" lIns="0" tIns="0" rIns="0" bIns="0" rtlCol="0" anchor="ctr"/>
          <a:lstStyle/>
          <a:p>
            <a:pPr marL="0" indent="0" algn="ctr">
              <a:buNone/>
            </a:pPr>
            <a:r>
              <a:rPr lang="en-US" sz="2600" b="1" dirty="0">
                <a:solidFill>
                  <a:srgbClr val="2F6B8F"/>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766560" y="1280160"/>
            <a:ext cx="1828800" cy="640080"/>
          </a:xfrm>
          <a:prstGeom prst="roundRect">
            <a:avLst>
              <a:gd name="adj" fmla="val 14286"/>
            </a:avLst>
          </a:prstGeom>
          <a:solidFill>
            <a:srgbClr val="2F6B8F"/>
          </a:solidFill>
          <a:ln w="12700">
            <a:solidFill>
              <a:srgbClr val="2F6B8F"/>
            </a:solidFill>
            <a:prstDash val="solid"/>
          </a:ln>
        </p:spPr>
        <p:txBody>
          <a:bodyPr/>
          <a:lstStyle/>
          <a:p>
            <a:endParaRPr lang="en-US"/>
          </a:p>
        </p:txBody>
      </p:sp>
      <p:sp>
        <p:nvSpPr>
          <p:cNvPr id="16" name="Text 13"/>
          <p:cNvSpPr txBox="1"/>
          <p:nvPr/>
        </p:nvSpPr>
        <p:spPr>
          <a:xfrm>
            <a:off x="6949440" y="1371600"/>
            <a:ext cx="1463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Friendly sentence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1828800"/>
        </p:xfrm>
        <a:graphic>
          <a:graphicData uri="http://schemas.openxmlformats.org/drawingml/2006/table">
            <a:tbl>
              <a:tblPr/>
              <a:tblGrid>
                <a:gridCol w="13716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457200">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Rain</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precip ≥ 0.2 mm, or chance ≥ 60% and ≥ 0.05 mm → rain jacket; umbrella for smart/formal</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Wind</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 10 m/s → windproof advice; too windy for an umbrella</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Ice</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min temp ≤ 1° with precipitation → ice grips, avoid smooth soles</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Sun / swing</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tc>
                  <a:txBody>
                    <a:bodyPr/>
                    <a:lstStyle/>
                    <a:p>
                      <a:pPr marL="0" indent="0">
                        <a:buNone/>
                      </a:pPr>
                      <a:r>
                        <a:rPr lang="en-US" sz="1400" dirty="0">
                          <a:solidFill>
                            <a:srgbClr val="1F2D38"/>
                          </a:solidFill>
                          <a:latin typeface="Calibri" pitchFamily="34" charset="0"/>
                          <a:ea typeface="Calibri" pitchFamily="34" charset="-122"/>
                          <a:cs typeface="Calibri" pitchFamily="34" charset="-120"/>
                        </a:rPr>
                        <a:t>UV ≥ 6 → sunglasses, sunscreen; feels-like swing &gt; 8° → layers</a:t>
                      </a:r>
                      <a:endParaRPr lang="en-US" sz="1400" dirty="0">
                        <a:latin typeface="Calibri" charset="0"/>
                        <a:ea typeface="Calibri" charset="0"/>
                        <a:cs typeface="Calibri" charset="0"/>
                      </a:endParaRPr>
                    </a:p>
                  </a:txBody>
                  <a:tcPr marT="0" marB="0" anchor="ctr">
                    <a:lnL w="12700" cap="flat" cmpd="sng" algn="ctr">
                      <a:solidFill>
                        <a:srgbClr val="D5E0E8"/>
                      </a:solidFill>
                      <a:prstDash val="solid"/>
                      <a:round/>
                      <a:headEnd type="none" w="med" len="med"/>
                      <a:tailEnd type="none" w="med" len="med"/>
                    </a:lnL>
                    <a:lnR w="12700" cap="flat" cmpd="sng" algn="ctr">
                      <a:solidFill>
                        <a:srgbClr val="D5E0E8"/>
                      </a:solidFill>
                      <a:prstDash val="solid"/>
                      <a:round/>
                      <a:headEnd type="none" w="med" len="med"/>
                      <a:tailEnd type="none" w="med" len="med"/>
                    </a:lnR>
                    <a:lnT w="12700" cap="flat" cmpd="sng" algn="ctr">
                      <a:solidFill>
                        <a:srgbClr val="D5E0E8"/>
                      </a:solidFill>
                      <a:prstDash val="solid"/>
                      <a:round/>
                      <a:headEnd type="none" w="med" len="med"/>
                      <a:tailEnd type="none" w="med" len="med"/>
                    </a:lnT>
                    <a:lnB w="12700" cap="flat" cmpd="sng" algn="ctr">
                      <a:solidFill>
                        <a:srgbClr val="D5E0E8"/>
                      </a:solidFill>
                      <a:prstDash val="solid"/>
                      <a:round/>
                      <a:headEnd type="none" w="med" len="med"/>
                      <a:tailEnd type="none" w="med" len="med"/>
                    </a:lnB>
                    <a:solidFill>
                      <a:srgbClr val="EEF4F8"/>
                    </a:solidFill>
                  </a:tcPr>
                </a:tc>
                <a:extLst>
                  <a:ext uri="{0D108BD9-81ED-4DB2-BD59-A6C34878D82A}">
                    <a16:rowId xmlns:a16="http://schemas.microsoft.com/office/drawing/2014/main" val="10003"/>
                  </a:ext>
                </a:extLst>
              </a:tr>
            </a:tbl>
          </a:graphicData>
        </a:graphic>
      </p:graphicFrame>
      <p:sp>
        <p:nvSpPr>
          <p:cNvPr id="18" name="Text 14"/>
          <p:cNvSpPr txBox="1"/>
          <p:nvPr/>
        </p:nvSpPr>
        <p:spPr>
          <a:xfrm>
            <a:off x="457200" y="4206240"/>
            <a:ext cx="8229600" cy="548640"/>
          </a:xfrm>
          <a:prstGeom prst="rect">
            <a:avLst/>
          </a:prstGeom>
          <a:noFill/>
          <a:ln/>
        </p:spPr>
        <p:txBody>
          <a:bodyPr wrap="square" lIns="0" tIns="0" rIns="0" bIns="0" rtlCol="0" anchor="ctr"/>
          <a:lstStyle/>
          <a:p>
            <a:pPr marL="0" indent="0">
              <a:buNone/>
            </a:pPr>
            <a:r>
              <a:rPr lang="en-US" sz="1400" i="1" dirty="0">
                <a:solidFill>
                  <a:srgbClr val="2F6B8F"/>
                </a:solidFill>
                <a:latin typeface="Calibri" pitchFamily="34" charset="0"/>
                <a:ea typeface="Calibri" pitchFamily="34" charset="-122"/>
                <a:cs typeface="Calibri" pitchFamily="34" charset="-120"/>
              </a:rPr>
              <a:t>Trade-offs are stated openly, e.g. 'Umbrella keeps the look sharp, but your back may get wet.'</a:t>
            </a:r>
            <a:endParaRPr lang="en-US" sz="1400" dirty="0"/>
          </a:p>
          <a:p>
            <a:pPr marL="0" indent="0">
              <a:buNone/>
            </a:pPr>
            <a:r>
              <a:rPr lang="en-US" sz="1400" i="1" dirty="0">
                <a:solidFill>
                  <a:srgbClr val="2F6B8F"/>
                </a:solidFill>
                <a:latin typeface="Calibri" pitchFamily="34" charset="0"/>
                <a:ea typeface="Calibri" pitchFamily="34" charset="-122"/>
                <a:cs typeface="Calibri" pitchFamily="34" charset="-120"/>
              </a:rPr>
              <a:t>Situations: ice, rain_dressy, rain, wind, cold, heat, nice.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Machine learning: personal comfort model</a:t>
            </a:r>
            <a:endParaRPr lang="en-US" sz="2800" dirty="0"/>
          </a:p>
        </p:txBody>
      </p:sp>
      <p:sp>
        <p:nvSpPr>
          <p:cNvPr id="6" name="Shape 3"/>
          <p:cNvSpPr/>
          <p:nvPr/>
        </p:nvSpPr>
        <p:spPr>
          <a:xfrm>
            <a:off x="457200" y="1280160"/>
            <a:ext cx="8229600" cy="731520"/>
          </a:xfrm>
          <a:prstGeom prst="roundRect">
            <a:avLst>
              <a:gd name="adj" fmla="val 12500"/>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371600"/>
            <a:ext cx="7863840" cy="548640"/>
          </a:xfrm>
          <a:prstGeom prst="rect">
            <a:avLst/>
          </a:prstGeom>
          <a:noFill/>
          <a:ln/>
        </p:spPr>
        <p:txBody>
          <a:bodyPr wrap="square" lIns="0" tIns="0" rIns="0" bIns="0" rtlCol="0" anchor="ctr"/>
          <a:lstStyle/>
          <a:p>
            <a:pPr marL="0" indent="0" algn="ctr">
              <a:buNone/>
            </a:pPr>
            <a:r>
              <a:rPr lang="en-US" sz="1300" b="1" dirty="0">
                <a:solidFill>
                  <a:srgbClr val="F2E94E"/>
                </a:solidFill>
                <a:latin typeface="Consolas" pitchFamily="34" charset="0"/>
                <a:ea typeface="Consolas" pitchFamily="34" charset="-122"/>
                <a:cs typeface="Consolas" pitchFamily="34" charset="-120"/>
              </a:rPr>
              <a:t>offset(x) = w · x        x = [1, wind, bike, car, walk, sport, rain, dressy]</a:t>
            </a:r>
            <a:endParaRPr lang="en-US" sz="1300" dirty="0"/>
          </a:p>
        </p:txBody>
      </p:sp>
      <p:sp>
        <p:nvSpPr>
          <p:cNvPr id="8" name="Shape 5"/>
          <p:cNvSpPr/>
          <p:nvPr/>
        </p:nvSpPr>
        <p:spPr>
          <a:xfrm>
            <a:off x="457200" y="2286000"/>
            <a:ext cx="2651760" cy="2286000"/>
          </a:xfrm>
          <a:prstGeom prst="roundRect">
            <a:avLst>
              <a:gd name="adj" fmla="val 4000"/>
            </a:avLst>
          </a:prstGeom>
          <a:solidFill>
            <a:srgbClr val="EEF4F8"/>
          </a:solidFill>
          <a:ln w="12700">
            <a:solidFill>
              <a:srgbClr val="EEF4F8"/>
            </a:solidFill>
            <a:prstDash val="solid"/>
          </a:ln>
        </p:spPr>
        <p:txBody>
          <a:bodyPr/>
          <a:lstStyle/>
          <a:p>
            <a:endParaRPr lang="en-US"/>
          </a:p>
        </p:txBody>
      </p:sp>
      <p:sp>
        <p:nvSpPr>
          <p:cNvPr id="9" name="Text 6"/>
          <p:cNvSpPr txBox="1"/>
          <p:nvPr/>
        </p:nvSpPr>
        <p:spPr>
          <a:xfrm>
            <a:off x="640080" y="2377440"/>
            <a:ext cx="2286000" cy="2103120"/>
          </a:xfrm>
          <a:prstGeom prst="rect">
            <a:avLst/>
          </a:prstGeom>
          <a:noFill/>
          <a:ln/>
        </p:spPr>
        <p:txBody>
          <a:bodyPr wrap="square" lIns="0" tIns="0" rIns="0" bIns="0" rtlCol="0" anchor="t"/>
          <a:lstStyle/>
          <a:p>
            <a:pPr marL="0" indent="0">
              <a:buNone/>
            </a:pPr>
            <a:r>
              <a:rPr lang="en-US" sz="1800" b="1" dirty="0">
                <a:solidFill>
                  <a:srgbClr val="2F6B8F"/>
                </a:solidFill>
                <a:latin typeface="Calibri" pitchFamily="34" charset="0"/>
                <a:ea typeface="Calibri" pitchFamily="34" charset="-122"/>
                <a:cs typeface="Calibri" pitchFamily="34" charset="-120"/>
              </a:rPr>
              <a:t>Type of model</a:t>
            </a:r>
            <a:endParaRPr lang="en-US" sz="1600" dirty="0"/>
          </a:p>
          <a:p>
            <a:pPr marL="0" indent="0">
              <a:buNone/>
            </a:pPr>
            <a:r>
              <a:rPr lang="en-US" sz="1450" dirty="0">
                <a:solidFill>
                  <a:srgbClr val="1F2D38"/>
                </a:solidFill>
                <a:latin typeface="Calibri" pitchFamily="34" charset="0"/>
                <a:ea typeface="Calibri" pitchFamily="34" charset="-122"/>
                <a:cs typeface="Calibri" pitchFamily="34" charset="-120"/>
              </a:rPr>
              <a:t>Linear regression trained online (normalised LMS, a form of SGD) with ridge (L2) shrinkage.</a:t>
            </a:r>
            <a:endParaRPr lang="en-US" sz="1600" dirty="0"/>
          </a:p>
        </p:txBody>
      </p:sp>
      <p:sp>
        <p:nvSpPr>
          <p:cNvPr id="10" name="Shape 7"/>
          <p:cNvSpPr/>
          <p:nvPr/>
        </p:nvSpPr>
        <p:spPr>
          <a:xfrm>
            <a:off x="3246120" y="2286000"/>
            <a:ext cx="2651760" cy="2286000"/>
          </a:xfrm>
          <a:prstGeom prst="roundRect">
            <a:avLst>
              <a:gd name="adj" fmla="val 4000"/>
            </a:avLst>
          </a:prstGeom>
          <a:solidFill>
            <a:srgbClr val="EEF4F8"/>
          </a:solidFill>
          <a:ln w="12700">
            <a:solidFill>
              <a:srgbClr val="EEF4F8"/>
            </a:solidFill>
            <a:prstDash val="solid"/>
          </a:ln>
        </p:spPr>
        <p:txBody>
          <a:bodyPr/>
          <a:lstStyle/>
          <a:p>
            <a:endParaRPr lang="en-US"/>
          </a:p>
        </p:txBody>
      </p:sp>
      <p:sp>
        <p:nvSpPr>
          <p:cNvPr id="11" name="Text 8"/>
          <p:cNvSpPr txBox="1"/>
          <p:nvPr/>
        </p:nvSpPr>
        <p:spPr>
          <a:xfrm>
            <a:off x="3429000" y="2377440"/>
            <a:ext cx="2286000" cy="2103120"/>
          </a:xfrm>
          <a:prstGeom prst="rect">
            <a:avLst/>
          </a:prstGeom>
          <a:noFill/>
          <a:ln/>
        </p:spPr>
        <p:txBody>
          <a:bodyPr wrap="square" lIns="0" tIns="0" rIns="0" bIns="0" rtlCol="0" anchor="t"/>
          <a:lstStyle/>
          <a:p>
            <a:pPr marL="0" indent="0">
              <a:buNone/>
            </a:pPr>
            <a:r>
              <a:rPr lang="en-US" sz="1800" b="1" dirty="0">
                <a:solidFill>
                  <a:srgbClr val="2F6B8F"/>
                </a:solidFill>
                <a:latin typeface="Calibri" pitchFamily="34" charset="0"/>
                <a:ea typeface="Calibri" pitchFamily="34" charset="-122"/>
                <a:cs typeface="Calibri" pitchFamily="34" charset="-120"/>
              </a:rPr>
              <a:t>Why context?</a:t>
            </a:r>
            <a:endParaRPr lang="en-US" sz="1600" dirty="0"/>
          </a:p>
          <a:p>
            <a:pPr marL="0" indent="0">
              <a:buNone/>
            </a:pPr>
            <a:r>
              <a:rPr lang="en-US" sz="1450" dirty="0">
                <a:solidFill>
                  <a:srgbClr val="1F2D38"/>
                </a:solidFill>
                <a:latin typeface="Calibri" pitchFamily="34" charset="0"/>
                <a:ea typeface="Calibri" pitchFamily="34" charset="-122"/>
                <a:cs typeface="Calibri" pitchFamily="34" charset="-120"/>
              </a:rPr>
              <a:t>Can learn 'I run cold when cycling in wind' without being cold everywhere.</a:t>
            </a:r>
            <a:endParaRPr lang="en-US" sz="1600" dirty="0"/>
          </a:p>
        </p:txBody>
      </p:sp>
      <p:sp>
        <p:nvSpPr>
          <p:cNvPr id="12" name="Shape 9"/>
          <p:cNvSpPr/>
          <p:nvPr/>
        </p:nvSpPr>
        <p:spPr>
          <a:xfrm>
            <a:off x="6035040" y="2286000"/>
            <a:ext cx="2651760" cy="2286000"/>
          </a:xfrm>
          <a:prstGeom prst="roundRect">
            <a:avLst>
              <a:gd name="adj" fmla="val 4000"/>
            </a:avLst>
          </a:prstGeom>
          <a:solidFill>
            <a:srgbClr val="12222D"/>
          </a:solidFill>
          <a:ln w="12700">
            <a:solidFill>
              <a:srgbClr val="12222D"/>
            </a:solidFill>
            <a:prstDash val="solid"/>
          </a:ln>
        </p:spPr>
        <p:txBody>
          <a:bodyPr/>
          <a:lstStyle/>
          <a:p>
            <a:endParaRPr lang="en-US"/>
          </a:p>
        </p:txBody>
      </p:sp>
      <p:sp>
        <p:nvSpPr>
          <p:cNvPr id="13" name="Text 10"/>
          <p:cNvSpPr txBox="1"/>
          <p:nvPr/>
        </p:nvSpPr>
        <p:spPr>
          <a:xfrm>
            <a:off x="6217920" y="2377440"/>
            <a:ext cx="2286000" cy="2103120"/>
          </a:xfrm>
          <a:prstGeom prst="rect">
            <a:avLst/>
          </a:prstGeom>
          <a:noFill/>
          <a:ln/>
        </p:spPr>
        <p:txBody>
          <a:bodyPr wrap="square" lIns="0" tIns="0" rIns="0" bIns="0" rtlCol="0" anchor="t"/>
          <a:lstStyle/>
          <a:p>
            <a:pPr marL="0" indent="0">
              <a:buNone/>
            </a:pPr>
            <a:r>
              <a:rPr lang="en-US" sz="1800" b="1" dirty="0">
                <a:solidFill>
                  <a:srgbClr val="F2E94E"/>
                </a:solidFill>
                <a:latin typeface="Calibri" pitchFamily="34" charset="0"/>
                <a:ea typeface="Calibri" pitchFamily="34" charset="-122"/>
                <a:cs typeface="Calibri" pitchFamily="34" charset="-120"/>
              </a:rPr>
              <a:t>Output</a:t>
            </a:r>
            <a:endParaRPr lang="en-US" sz="1600" dirty="0"/>
          </a:p>
          <a:p>
            <a:pPr marL="0" indent="0">
              <a:buNone/>
            </a:pPr>
            <a:r>
              <a:rPr lang="en-US" sz="1450" dirty="0">
                <a:solidFill>
                  <a:srgbClr val="FFFFFF"/>
                </a:solidFill>
                <a:latin typeface="Calibri" pitchFamily="34" charset="0"/>
                <a:ea typeface="Calibri" pitchFamily="34" charset="-122"/>
                <a:cs typeface="Calibri" pitchFamily="34" charset="-120"/>
              </a:rPr>
              <a:t>Offset in °C (+ = you run cold). It shifts the effective temperature and so the clothing band.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6-10-17 at 02.50.33">
            <a:hlinkClick r:id="" action="ppaction://media"/>
            <a:extLst>
              <a:ext uri="{FF2B5EF4-FFF2-40B4-BE49-F238E27FC236}">
                <a16:creationId xmlns:a16="http://schemas.microsoft.com/office/drawing/2014/main" id="{0075C0EB-C47B-6A57-DF8B-A8CCB6CE164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9144000" cy="4841421"/>
          </a:xfrm>
          <a:prstGeom prst="rect">
            <a:avLst/>
          </a:prstGeom>
        </p:spPr>
      </p:pic>
      <p:pic>
        <p:nvPicPr>
          <p:cNvPr id="3" name="WhatsApp Video 2026-10-17 at 02.50.33">
            <a:hlinkClick r:id="" action="ppaction://media"/>
            <a:extLst>
              <a:ext uri="{FF2B5EF4-FFF2-40B4-BE49-F238E27FC236}">
                <a16:creationId xmlns:a16="http://schemas.microsoft.com/office/drawing/2014/main" id="{B950401C-4449-AA97-E17D-26A36456DCA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 y="152400"/>
            <a:ext cx="9144000" cy="4841421"/>
          </a:xfrm>
          <a:prstGeom prst="rect">
            <a:avLst/>
          </a:prstGeom>
        </p:spPr>
      </p:pic>
    </p:spTree>
    <p:extLst>
      <p:ext uri="{BB962C8B-B14F-4D97-AF65-F5344CB8AC3E}">
        <p14:creationId xmlns:p14="http://schemas.microsoft.com/office/powerpoint/2010/main" val="417494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018"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seq concurrent="1" nextAc="seek">
              <p:cTn id="17" restart="whenNotActive" fill="hold" evtFilter="cancelBubble" nodeType="interactiveSeq">
                <p:stCondLst>
                  <p:cond evt="onClick" delay="0">
                    <p:tgtEl>
                      <p:spTgt spid="3"/>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3"/>
                                        </p:tgtEl>
                                      </p:cBhvr>
                                    </p:cmd>
                                  </p:childTnLst>
                                </p:cTn>
                              </p:par>
                            </p:childTnLst>
                          </p:cTn>
                        </p:par>
                      </p:childTnLst>
                    </p:cTn>
                  </p:par>
                </p:childTnLst>
              </p:cTn>
              <p:nextCondLst>
                <p:cond evt="onClick" delay="0">
                  <p:tgtEl>
                    <p:spTgt spid="3"/>
                  </p:tgtEl>
                </p:cond>
              </p:nextCondLst>
            </p:seq>
            <p:video>
              <p:cMediaNode vol="80000">
                <p:cTn id="22"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ML example: it separates situations</a:t>
            </a:r>
            <a:endParaRPr lang="en-US" sz="2800" dirty="0"/>
          </a:p>
        </p:txBody>
      </p:sp>
      <p:sp>
        <p:nvSpPr>
          <p:cNvPr id="6" name="Shape 3"/>
          <p:cNvSpPr/>
          <p:nvPr/>
        </p:nvSpPr>
        <p:spPr>
          <a:xfrm>
            <a:off x="457200" y="1371600"/>
            <a:ext cx="3931920" cy="2103120"/>
          </a:xfrm>
          <a:prstGeom prst="roundRect">
            <a:avLst>
              <a:gd name="adj" fmla="val 4348"/>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463040"/>
            <a:ext cx="3566160" cy="1920240"/>
          </a:xfrm>
          <a:prstGeom prst="rect">
            <a:avLst/>
          </a:prstGeom>
          <a:noFill/>
          <a:ln/>
        </p:spPr>
        <p:txBody>
          <a:bodyPr wrap="square" lIns="0" tIns="0" rIns="0" bIns="0" rtlCol="0" anchor="t"/>
          <a:lstStyle/>
          <a:p>
            <a:pPr marL="0" indent="0">
              <a:buNone/>
            </a:pPr>
            <a:r>
              <a:rPr lang="en-US" sz="1600" b="1" dirty="0">
                <a:solidFill>
                  <a:srgbClr val="F2E94E"/>
                </a:solidFill>
                <a:latin typeface="Calibri" pitchFamily="34" charset="0"/>
                <a:ea typeface="Calibri" pitchFamily="34" charset="-122"/>
                <a:cs typeface="Calibri" pitchFamily="34" charset="-120"/>
              </a:rPr>
              <a:t>Windy + cycling</a:t>
            </a:r>
            <a:endParaRPr lang="en-US" sz="1600" dirty="0"/>
          </a:p>
          <a:p>
            <a:pPr marL="0" indent="0">
              <a:buNone/>
            </a:pPr>
            <a:r>
              <a:rPr lang="en-US" sz="4400" b="1" dirty="0">
                <a:solidFill>
                  <a:srgbClr val="FFFFFF"/>
                </a:solidFill>
                <a:latin typeface="Calibri" pitchFamily="34" charset="0"/>
                <a:ea typeface="Calibri" pitchFamily="34" charset="-122"/>
                <a:cs typeface="Calibri" pitchFamily="34" charset="-120"/>
              </a:rPr>
              <a:t>+0.8 °C</a:t>
            </a:r>
            <a:endParaRPr lang="en-US" sz="1600" dirty="0"/>
          </a:p>
          <a:p>
            <a:pPr marL="0" indent="0">
              <a:buNone/>
            </a:pPr>
            <a:r>
              <a:rPr lang="en-US" sz="1400" dirty="0">
                <a:solidFill>
                  <a:srgbClr val="D5E0E8"/>
                </a:solidFill>
                <a:latin typeface="Calibri" pitchFamily="34" charset="0"/>
                <a:ea typeface="Calibri" pitchFamily="34" charset="-122"/>
                <a:cs typeface="Calibri" pitchFamily="34" charset="-120"/>
              </a:rPr>
              <a:t>after one "Too cold" vote</a:t>
            </a:r>
            <a:endParaRPr lang="en-US" sz="1600" dirty="0"/>
          </a:p>
        </p:txBody>
      </p:sp>
      <p:sp>
        <p:nvSpPr>
          <p:cNvPr id="8" name="Shape 5"/>
          <p:cNvSpPr/>
          <p:nvPr/>
        </p:nvSpPr>
        <p:spPr>
          <a:xfrm>
            <a:off x="4754880" y="1371600"/>
            <a:ext cx="3931920" cy="2103120"/>
          </a:xfrm>
          <a:prstGeom prst="roundRect">
            <a:avLst>
              <a:gd name="adj" fmla="val 4348"/>
            </a:avLst>
          </a:prstGeom>
          <a:solidFill>
            <a:srgbClr val="EEF4F8"/>
          </a:solidFill>
          <a:ln w="12700">
            <a:solidFill>
              <a:srgbClr val="EEF4F8"/>
            </a:solidFill>
            <a:prstDash val="solid"/>
          </a:ln>
        </p:spPr>
        <p:txBody>
          <a:bodyPr/>
          <a:lstStyle/>
          <a:p>
            <a:endParaRPr lang="en-US"/>
          </a:p>
        </p:txBody>
      </p:sp>
      <p:sp>
        <p:nvSpPr>
          <p:cNvPr id="9" name="Text 6"/>
          <p:cNvSpPr txBox="1"/>
          <p:nvPr/>
        </p:nvSpPr>
        <p:spPr>
          <a:xfrm>
            <a:off x="4937760" y="1463040"/>
            <a:ext cx="3566160" cy="1920240"/>
          </a:xfrm>
          <a:prstGeom prst="rect">
            <a:avLst/>
          </a:prstGeom>
          <a:noFill/>
          <a:ln/>
        </p:spPr>
        <p:txBody>
          <a:bodyPr wrap="square" lIns="0" tIns="0" rIns="0" bIns="0" rtlCol="0" anchor="t"/>
          <a:lstStyle/>
          <a:p>
            <a:pPr marL="0" indent="0">
              <a:buNone/>
            </a:pPr>
            <a:r>
              <a:rPr lang="en-US" sz="1600" b="1" dirty="0">
                <a:solidFill>
                  <a:srgbClr val="2F6B8F"/>
                </a:solidFill>
                <a:latin typeface="Calibri" pitchFamily="34" charset="0"/>
                <a:ea typeface="Calibri" pitchFamily="34" charset="-122"/>
                <a:cs typeface="Calibri" pitchFamily="34" charset="-120"/>
              </a:rPr>
              <a:t>Calm day on the bus</a:t>
            </a:r>
            <a:endParaRPr lang="en-US" sz="1600" dirty="0"/>
          </a:p>
          <a:p>
            <a:pPr marL="0" indent="0">
              <a:buNone/>
            </a:pPr>
            <a:r>
              <a:rPr lang="en-US" sz="4400" b="1" dirty="0">
                <a:solidFill>
                  <a:srgbClr val="1F2D38"/>
                </a:solidFill>
                <a:latin typeface="Calibri" pitchFamily="34" charset="0"/>
                <a:ea typeface="Calibri" pitchFamily="34" charset="-122"/>
                <a:cs typeface="Calibri" pitchFamily="34" charset="-120"/>
              </a:rPr>
              <a:t>+0.26 °C</a:t>
            </a:r>
            <a:endParaRPr lang="en-US" sz="1600" dirty="0"/>
          </a:p>
          <a:p>
            <a:pPr marL="0" indent="0">
              <a:buNone/>
            </a:pPr>
            <a:r>
              <a:rPr lang="en-US" sz="1400" dirty="0">
                <a:solidFill>
                  <a:srgbClr val="1F2D38"/>
                </a:solidFill>
                <a:latin typeface="Calibri" pitchFamily="34" charset="0"/>
                <a:ea typeface="Calibri" pitchFamily="34" charset="-122"/>
                <a:cs typeface="Calibri" pitchFamily="34" charset="-120"/>
              </a:rPr>
              <a:t>barely affected</a:t>
            </a:r>
            <a:endParaRPr lang="en-US" sz="1600" dirty="0"/>
          </a:p>
        </p:txBody>
      </p:sp>
      <p:sp>
        <p:nvSpPr>
          <p:cNvPr id="10" name="Text 7"/>
          <p:cNvSpPr txBox="1"/>
          <p:nvPr/>
        </p:nvSpPr>
        <p:spPr>
          <a:xfrm>
            <a:off x="457200" y="3794760"/>
            <a:ext cx="8229600" cy="640080"/>
          </a:xfrm>
          <a:prstGeom prst="rect">
            <a:avLst/>
          </a:prstGeom>
          <a:noFill/>
          <a:ln/>
        </p:spPr>
        <p:txBody>
          <a:bodyPr wrap="square" lIns="0" tIns="0" rIns="0" bIns="0" rtlCol="0" anchor="ctr"/>
          <a:lstStyle/>
          <a:p>
            <a:pPr marL="0" indent="0">
              <a:buNone/>
            </a:pPr>
            <a:r>
              <a:rPr lang="en-US" sz="1800" b="1" dirty="0">
                <a:solidFill>
                  <a:srgbClr val="12222D"/>
                </a:solidFill>
                <a:latin typeface="Calibri" pitchFamily="34" charset="0"/>
                <a:ea typeface="Calibri" pitchFamily="34" charset="-122"/>
                <a:cs typeface="Calibri" pitchFamily="34" charset="-120"/>
              </a:rPr>
              <a:t>Tested: 18 pytest tests. In a simulation the error halved after 600 votes.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Did it succeed?</a:t>
            </a:r>
            <a:endParaRPr lang="en-US" sz="2800" dirty="0"/>
          </a:p>
        </p:txBody>
      </p:sp>
      <p:sp>
        <p:nvSpPr>
          <p:cNvPr id="6" name="Shape 3"/>
          <p:cNvSpPr/>
          <p:nvPr/>
        </p:nvSpPr>
        <p:spPr>
          <a:xfrm>
            <a:off x="457200" y="1371600"/>
            <a:ext cx="3931920" cy="3017520"/>
          </a:xfrm>
          <a:prstGeom prst="roundRect">
            <a:avLst>
              <a:gd name="adj" fmla="val 3030"/>
            </a:avLst>
          </a:prstGeom>
          <a:solidFill>
            <a:srgbClr val="EEF4F8"/>
          </a:solidFill>
          <a:ln w="12700">
            <a:solidFill>
              <a:srgbClr val="EEF4F8"/>
            </a:solidFill>
            <a:prstDash val="solid"/>
          </a:ln>
        </p:spPr>
        <p:txBody>
          <a:bodyPr/>
          <a:lstStyle/>
          <a:p>
            <a:endParaRPr lang="en-US"/>
          </a:p>
        </p:txBody>
      </p:sp>
      <p:sp>
        <p:nvSpPr>
          <p:cNvPr id="7" name="Text 4"/>
          <p:cNvSpPr txBox="1"/>
          <p:nvPr/>
        </p:nvSpPr>
        <p:spPr>
          <a:xfrm>
            <a:off x="640080" y="1463040"/>
            <a:ext cx="3566160" cy="2834640"/>
          </a:xfrm>
          <a:prstGeom prst="rect">
            <a:avLst/>
          </a:prstGeom>
          <a:noFill/>
          <a:ln/>
        </p:spPr>
        <p:txBody>
          <a:bodyPr wrap="square" lIns="0" tIns="0" rIns="0" bIns="0" rtlCol="0" anchor="t"/>
          <a:lstStyle/>
          <a:p>
            <a:pPr marL="0" indent="0">
              <a:buNone/>
            </a:pPr>
            <a:r>
              <a:rPr lang="en-US" sz="2000" b="1" dirty="0">
                <a:solidFill>
                  <a:srgbClr val="2F6B8F"/>
                </a:solidFill>
                <a:latin typeface="Calibri" pitchFamily="34" charset="0"/>
                <a:ea typeface="Calibri" pitchFamily="34" charset="-122"/>
                <a:cs typeface="Calibri" pitchFamily="34" charset="-120"/>
              </a:rPr>
              <a:t>What works</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Only the hours you are outside</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Clear Wear / Bring / Avoid</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Learns your comfort</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18 tests pass</a:t>
            </a:r>
            <a:endParaRPr lang="en-US" sz="1600" dirty="0"/>
          </a:p>
        </p:txBody>
      </p:sp>
      <p:sp>
        <p:nvSpPr>
          <p:cNvPr id="8" name="Shape 5"/>
          <p:cNvSpPr/>
          <p:nvPr/>
        </p:nvSpPr>
        <p:spPr>
          <a:xfrm>
            <a:off x="4754880" y="1371600"/>
            <a:ext cx="3931920" cy="3017520"/>
          </a:xfrm>
          <a:prstGeom prst="roundRect">
            <a:avLst>
              <a:gd name="adj" fmla="val 3030"/>
            </a:avLst>
          </a:prstGeom>
          <a:solidFill>
            <a:srgbClr val="EEF4F8"/>
          </a:solidFill>
          <a:ln w="12700">
            <a:solidFill>
              <a:srgbClr val="EEF4F8"/>
            </a:solidFill>
            <a:prstDash val="solid"/>
          </a:ln>
        </p:spPr>
        <p:txBody>
          <a:bodyPr/>
          <a:lstStyle/>
          <a:p>
            <a:endParaRPr lang="en-US"/>
          </a:p>
        </p:txBody>
      </p:sp>
      <p:sp>
        <p:nvSpPr>
          <p:cNvPr id="9" name="Text 6"/>
          <p:cNvSpPr txBox="1"/>
          <p:nvPr/>
        </p:nvSpPr>
        <p:spPr>
          <a:xfrm>
            <a:off x="4937760" y="1463040"/>
            <a:ext cx="3566160" cy="2834640"/>
          </a:xfrm>
          <a:prstGeom prst="rect">
            <a:avLst/>
          </a:prstGeom>
          <a:noFill/>
          <a:ln/>
        </p:spPr>
        <p:txBody>
          <a:bodyPr wrap="square" lIns="0" tIns="0" rIns="0" bIns="0" rtlCol="0" anchor="t"/>
          <a:lstStyle/>
          <a:p>
            <a:pPr marL="0" indent="0">
              <a:buNone/>
            </a:pPr>
            <a:r>
              <a:rPr lang="en-US" sz="2000" b="1" dirty="0">
                <a:solidFill>
                  <a:srgbClr val="B3402E"/>
                </a:solidFill>
                <a:latin typeface="Calibri" pitchFamily="34" charset="0"/>
                <a:ea typeface="Calibri" pitchFamily="34" charset="-122"/>
                <a:cs typeface="Calibri" pitchFamily="34" charset="-120"/>
              </a:rPr>
              <a:t>Limits</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3-day forecast, Sweden, English</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Keyword event detection</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No user study yet</a:t>
            </a:r>
            <a:endParaRPr lang="en-US" sz="1600" dirty="0"/>
          </a:p>
          <a:p>
            <a:pPr marL="342900" indent="-342900">
              <a:spcAft>
                <a:spcPts val="800"/>
              </a:spcAft>
              <a:buSzPct val="100000"/>
              <a:buChar char="•"/>
            </a:pPr>
            <a:r>
              <a:rPr lang="en-US" sz="1700" dirty="0">
                <a:solidFill>
                  <a:srgbClr val="1F2D38"/>
                </a:solidFill>
                <a:latin typeface="Calibri" pitchFamily="34" charset="0"/>
                <a:ea typeface="Calibri" pitchFamily="34" charset="-122"/>
                <a:cs typeface="Calibri" pitchFamily="34" charset="-120"/>
              </a:rPr>
              <a:t>Only 8 learned weights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457200" y="502920"/>
            <a:ext cx="8229600" cy="640080"/>
          </a:xfrm>
          <a:prstGeom prst="rect">
            <a:avLst/>
          </a:prstGeom>
          <a:noFill/>
          <a:ln/>
        </p:spPr>
        <p:txBody>
          <a:bodyPr wrap="square" lIns="0" tIns="0" rIns="0" bIns="0" rtlCol="0" anchor="ctr"/>
          <a:lstStyle/>
          <a:p>
            <a:pPr marL="0" indent="0">
              <a:buNone/>
            </a:pPr>
            <a:r>
              <a:rPr lang="en-US" sz="2800" b="1" dirty="0">
                <a:solidFill>
                  <a:srgbClr val="12222D"/>
                </a:solidFill>
                <a:latin typeface="Cambria" pitchFamily="34" charset="0"/>
                <a:ea typeface="Cambria" pitchFamily="34" charset="-122"/>
                <a:cs typeface="Cambria" pitchFamily="34" charset="-120"/>
              </a:rPr>
              <a:t>Ethical implications</a:t>
            </a:r>
            <a:endParaRPr lang="en-US" sz="2800" dirty="0"/>
          </a:p>
        </p:txBody>
      </p:sp>
      <p:sp>
        <p:nvSpPr>
          <p:cNvPr id="6" name="Shape 3"/>
          <p:cNvSpPr/>
          <p:nvPr/>
        </p:nvSpPr>
        <p:spPr>
          <a:xfrm>
            <a:off x="457200" y="1371600"/>
            <a:ext cx="4023360" cy="1417320"/>
          </a:xfrm>
          <a:prstGeom prst="roundRect">
            <a:avLst>
              <a:gd name="adj" fmla="val 6452"/>
            </a:avLst>
          </a:prstGeom>
          <a:solidFill>
            <a:srgbClr val="12222D"/>
          </a:solidFill>
          <a:ln w="12700">
            <a:solidFill>
              <a:srgbClr val="12222D"/>
            </a:solidFill>
            <a:prstDash val="solid"/>
          </a:ln>
        </p:spPr>
        <p:txBody>
          <a:bodyPr/>
          <a:lstStyle/>
          <a:p>
            <a:endParaRPr lang="en-US"/>
          </a:p>
        </p:txBody>
      </p:sp>
      <p:sp>
        <p:nvSpPr>
          <p:cNvPr id="7" name="Text 4"/>
          <p:cNvSpPr txBox="1"/>
          <p:nvPr/>
        </p:nvSpPr>
        <p:spPr>
          <a:xfrm>
            <a:off x="640080" y="1463040"/>
            <a:ext cx="3657600" cy="1234440"/>
          </a:xfrm>
          <a:prstGeom prst="rect">
            <a:avLst/>
          </a:prstGeom>
          <a:noFill/>
          <a:ln/>
        </p:spPr>
        <p:txBody>
          <a:bodyPr wrap="square" lIns="0" tIns="0" rIns="0" bIns="0" rtlCol="0" anchor="t"/>
          <a:lstStyle/>
          <a:p>
            <a:pPr marL="0" indent="0">
              <a:buNone/>
            </a:pPr>
            <a:r>
              <a:rPr lang="en-US" sz="1900" b="1" dirty="0">
                <a:solidFill>
                  <a:srgbClr val="F2E94E"/>
                </a:solidFill>
                <a:latin typeface="Calibri" pitchFamily="34" charset="0"/>
                <a:ea typeface="Calibri" pitchFamily="34" charset="-122"/>
                <a:cs typeface="Calibri" pitchFamily="34" charset="-120"/>
              </a:rPr>
              <a:t>Privacy</a:t>
            </a:r>
            <a:endParaRPr lang="en-US" sz="1600" dirty="0"/>
          </a:p>
          <a:p>
            <a:pPr marL="0" indent="0">
              <a:buNone/>
            </a:pPr>
            <a:r>
              <a:rPr lang="en-US" sz="1500" dirty="0">
                <a:solidFill>
                  <a:srgbClr val="FFFFFF"/>
                </a:solidFill>
                <a:latin typeface="Calibri" pitchFamily="34" charset="0"/>
                <a:ea typeface="Calibri" pitchFamily="34" charset="-122"/>
                <a:cs typeface="Calibri" pitchFamily="34" charset="-120"/>
              </a:rPr>
              <a:t>Calendars are used in memory and not stored. Weights stay in your browser.</a:t>
            </a:r>
            <a:endParaRPr lang="en-US" sz="1600" dirty="0"/>
          </a:p>
        </p:txBody>
      </p:sp>
      <p:sp>
        <p:nvSpPr>
          <p:cNvPr id="8" name="Shape 5"/>
          <p:cNvSpPr/>
          <p:nvPr/>
        </p:nvSpPr>
        <p:spPr>
          <a:xfrm>
            <a:off x="4663440" y="1371600"/>
            <a:ext cx="4023360" cy="1417320"/>
          </a:xfrm>
          <a:prstGeom prst="roundRect">
            <a:avLst>
              <a:gd name="adj" fmla="val 6452"/>
            </a:avLst>
          </a:prstGeom>
          <a:solidFill>
            <a:srgbClr val="EEF4F8"/>
          </a:solidFill>
          <a:ln w="12700">
            <a:solidFill>
              <a:srgbClr val="EEF4F8"/>
            </a:solidFill>
            <a:prstDash val="solid"/>
          </a:ln>
        </p:spPr>
        <p:txBody>
          <a:bodyPr/>
          <a:lstStyle/>
          <a:p>
            <a:endParaRPr lang="en-US"/>
          </a:p>
        </p:txBody>
      </p:sp>
      <p:sp>
        <p:nvSpPr>
          <p:cNvPr id="9" name="Text 6"/>
          <p:cNvSpPr txBox="1"/>
          <p:nvPr/>
        </p:nvSpPr>
        <p:spPr>
          <a:xfrm>
            <a:off x="4846320" y="1463040"/>
            <a:ext cx="3657600" cy="1234440"/>
          </a:xfrm>
          <a:prstGeom prst="rect">
            <a:avLst/>
          </a:prstGeom>
          <a:noFill/>
          <a:ln/>
        </p:spPr>
        <p:txBody>
          <a:bodyPr wrap="square" lIns="0" tIns="0" rIns="0" bIns="0" rtlCol="0" anchor="t"/>
          <a:lstStyle/>
          <a:p>
            <a:pPr marL="0" indent="0">
              <a:buNone/>
            </a:pPr>
            <a:r>
              <a:rPr lang="en-US" sz="1900" b="1" dirty="0">
                <a:solidFill>
                  <a:srgbClr val="2F6B8F"/>
                </a:solidFill>
                <a:latin typeface="Calibri" pitchFamily="34" charset="0"/>
                <a:ea typeface="Calibri" pitchFamily="34" charset="-122"/>
                <a:cs typeface="Calibri" pitchFamily="34" charset="-120"/>
              </a:rPr>
              <a:t>Transparency</a:t>
            </a:r>
            <a:endParaRPr lang="en-US" sz="1600" dirty="0"/>
          </a:p>
          <a:p>
            <a:pPr marL="0" indent="0">
              <a:buNone/>
            </a:pPr>
            <a:r>
              <a:rPr lang="en-US" sz="1500" dirty="0">
                <a:solidFill>
                  <a:srgbClr val="1F2D38"/>
                </a:solidFill>
                <a:latin typeface="Calibri" pitchFamily="34" charset="0"/>
                <a:ea typeface="Calibri" pitchFamily="34" charset="-122"/>
                <a:cs typeface="Calibri" pitchFamily="34" charset="-120"/>
              </a:rPr>
              <a:t>"Tuned to you" shows when your votes changed the advice.</a:t>
            </a:r>
            <a:endParaRPr lang="en-US" sz="1600" dirty="0"/>
          </a:p>
        </p:txBody>
      </p:sp>
      <p:sp>
        <p:nvSpPr>
          <p:cNvPr id="10" name="Shape 7"/>
          <p:cNvSpPr/>
          <p:nvPr/>
        </p:nvSpPr>
        <p:spPr>
          <a:xfrm>
            <a:off x="457200" y="2971800"/>
            <a:ext cx="4023360" cy="1417320"/>
          </a:xfrm>
          <a:prstGeom prst="roundRect">
            <a:avLst>
              <a:gd name="adj" fmla="val 6452"/>
            </a:avLst>
          </a:prstGeom>
          <a:solidFill>
            <a:srgbClr val="EEF4F8"/>
          </a:solidFill>
          <a:ln w="12700">
            <a:solidFill>
              <a:srgbClr val="EEF4F8"/>
            </a:solidFill>
            <a:prstDash val="solid"/>
          </a:ln>
        </p:spPr>
        <p:txBody>
          <a:bodyPr/>
          <a:lstStyle/>
          <a:p>
            <a:endParaRPr lang="en-US"/>
          </a:p>
        </p:txBody>
      </p:sp>
      <p:sp>
        <p:nvSpPr>
          <p:cNvPr id="11" name="Text 8"/>
          <p:cNvSpPr txBox="1"/>
          <p:nvPr/>
        </p:nvSpPr>
        <p:spPr>
          <a:xfrm>
            <a:off x="640080" y="3063240"/>
            <a:ext cx="3657600" cy="1234440"/>
          </a:xfrm>
          <a:prstGeom prst="rect">
            <a:avLst/>
          </a:prstGeom>
          <a:noFill/>
          <a:ln/>
        </p:spPr>
        <p:txBody>
          <a:bodyPr wrap="square" lIns="0" tIns="0" rIns="0" bIns="0" rtlCol="0" anchor="t"/>
          <a:lstStyle/>
          <a:p>
            <a:pPr marL="0" indent="0">
              <a:buNone/>
            </a:pPr>
            <a:r>
              <a:rPr lang="en-US" sz="1900" b="1" dirty="0">
                <a:solidFill>
                  <a:srgbClr val="2F6B8F"/>
                </a:solidFill>
                <a:latin typeface="Calibri" pitchFamily="34" charset="0"/>
                <a:ea typeface="Calibri" pitchFamily="34" charset="-122"/>
                <a:cs typeface="Calibri" pitchFamily="34" charset="-120"/>
              </a:rPr>
              <a:t>Reliability</a:t>
            </a:r>
            <a:endParaRPr lang="en-US" sz="1600" dirty="0"/>
          </a:p>
          <a:p>
            <a:pPr marL="0" indent="0">
              <a:buNone/>
            </a:pPr>
            <a:r>
              <a:rPr lang="en-US" sz="1500" dirty="0">
                <a:solidFill>
                  <a:srgbClr val="1F2D38"/>
                </a:solidFill>
                <a:latin typeface="Calibri" pitchFamily="34" charset="0"/>
                <a:ea typeface="Calibri" pitchFamily="34" charset="-122"/>
                <a:cs typeface="Calibri" pitchFamily="34" charset="-120"/>
              </a:rPr>
              <a:t>Forecasts can be wrong. It is advice, not a safety system.</a:t>
            </a:r>
            <a:endParaRPr lang="en-US" sz="1600" dirty="0"/>
          </a:p>
        </p:txBody>
      </p:sp>
      <p:sp>
        <p:nvSpPr>
          <p:cNvPr id="12" name="Shape 9"/>
          <p:cNvSpPr/>
          <p:nvPr/>
        </p:nvSpPr>
        <p:spPr>
          <a:xfrm>
            <a:off x="4663440" y="2971800"/>
            <a:ext cx="4023360" cy="1417320"/>
          </a:xfrm>
          <a:prstGeom prst="roundRect">
            <a:avLst>
              <a:gd name="adj" fmla="val 6452"/>
            </a:avLst>
          </a:prstGeom>
          <a:solidFill>
            <a:srgbClr val="EEF4F8"/>
          </a:solidFill>
          <a:ln w="12700">
            <a:solidFill>
              <a:srgbClr val="EEF4F8"/>
            </a:solidFill>
            <a:prstDash val="solid"/>
          </a:ln>
        </p:spPr>
        <p:txBody>
          <a:bodyPr/>
          <a:lstStyle/>
          <a:p>
            <a:endParaRPr lang="en-US"/>
          </a:p>
        </p:txBody>
      </p:sp>
      <p:sp>
        <p:nvSpPr>
          <p:cNvPr id="13" name="Text 10"/>
          <p:cNvSpPr txBox="1"/>
          <p:nvPr/>
        </p:nvSpPr>
        <p:spPr>
          <a:xfrm>
            <a:off x="4846320" y="3063240"/>
            <a:ext cx="3657600" cy="1234440"/>
          </a:xfrm>
          <a:prstGeom prst="rect">
            <a:avLst/>
          </a:prstGeom>
          <a:noFill/>
          <a:ln/>
        </p:spPr>
        <p:txBody>
          <a:bodyPr wrap="square" lIns="0" tIns="0" rIns="0" bIns="0" rtlCol="0" anchor="t"/>
          <a:lstStyle/>
          <a:p>
            <a:pPr marL="0" indent="0">
              <a:buNone/>
            </a:pPr>
            <a:r>
              <a:rPr lang="en-US" sz="1900" b="1" dirty="0">
                <a:solidFill>
                  <a:srgbClr val="2F6B8F"/>
                </a:solidFill>
                <a:latin typeface="Calibri" pitchFamily="34" charset="0"/>
                <a:ea typeface="Calibri" pitchFamily="34" charset="-122"/>
                <a:cs typeface="Calibri" pitchFamily="34" charset="-120"/>
              </a:rPr>
              <a:t>Fairness</a:t>
            </a:r>
            <a:endParaRPr lang="en-US" sz="1600" dirty="0"/>
          </a:p>
          <a:p>
            <a:pPr marL="0" indent="0">
              <a:buNone/>
            </a:pPr>
            <a:r>
              <a:rPr lang="en-US" sz="1500" dirty="0">
                <a:solidFill>
                  <a:srgbClr val="1F2D38"/>
                </a:solidFill>
                <a:latin typeface="Calibri" pitchFamily="34" charset="0"/>
                <a:ea typeface="Calibri" pitchFamily="34" charset="-122"/>
                <a:cs typeface="Calibri" pitchFamily="34" charset="-120"/>
              </a:rPr>
              <a:t>Only English and Swedish keywords. No group profiling.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2222D"/>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731520"/>
          </a:xfrm>
          <a:prstGeom prst="rect">
            <a:avLst/>
          </a:prstGeom>
          <a:noFill/>
          <a:ln/>
        </p:spPr>
        <p:txBody>
          <a:bodyPr wrap="square" lIns="0" tIns="0" rIns="0" bIns="0" rtlCol="0" anchor="ctr"/>
          <a:lstStyle/>
          <a:p>
            <a:pPr marL="0" indent="0">
              <a:buNone/>
            </a:pPr>
            <a:r>
              <a:rPr lang="en-US" sz="4000" b="1" dirty="0">
                <a:solidFill>
                  <a:srgbClr val="F2E94E"/>
                </a:solidFill>
                <a:latin typeface="Cambria" pitchFamily="34" charset="0"/>
                <a:ea typeface="Cambria" pitchFamily="34" charset="-122"/>
                <a:cs typeface="Cambria" pitchFamily="34" charset="-120"/>
              </a:rPr>
              <a:t>Conclusion</a:t>
            </a:r>
            <a:endParaRPr lang="en-US" sz="4000" dirty="0"/>
          </a:p>
        </p:txBody>
      </p:sp>
      <p:sp>
        <p:nvSpPr>
          <p:cNvPr id="3" name="Text 1"/>
          <p:cNvSpPr txBox="1"/>
          <p:nvPr/>
        </p:nvSpPr>
        <p:spPr>
          <a:xfrm>
            <a:off x="640080" y="1383846"/>
            <a:ext cx="7863840" cy="2375807"/>
          </a:xfrm>
          <a:prstGeom prst="rect">
            <a:avLst/>
          </a:prstGeom>
          <a:noFill/>
          <a:ln/>
        </p:spPr>
        <p:txBody>
          <a:bodyPr wrap="square" lIns="0" tIns="0" rIns="0" bIns="0" rtlCol="0" anchor="ctr"/>
          <a:lstStyle/>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It looks only at the hours you are really outside, so the advice fits your day</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Clear rules you can trust, plus a ML model that learns your comfort</a:t>
            </a:r>
            <a:endParaRPr lang="en-US" sz="1700" dirty="0"/>
          </a:p>
          <a:p>
            <a:pPr marL="342900" indent="-342900">
              <a:spcAft>
                <a:spcPts val="800"/>
              </a:spcAft>
              <a:buSzPct val="100000"/>
              <a:buChar char="•"/>
            </a:pPr>
            <a:r>
              <a:rPr lang="en-US" sz="1700" dirty="0">
                <a:solidFill>
                  <a:srgbClr val="FFFFFF"/>
                </a:solidFill>
                <a:latin typeface="Calibri" pitchFamily="34" charset="0"/>
                <a:ea typeface="Calibri" pitchFamily="34" charset="-122"/>
                <a:cs typeface="Calibri" pitchFamily="34" charset="-120"/>
              </a:rPr>
              <a:t>Private by design: no database, no accounts, your data stays with you</a:t>
            </a:r>
            <a:endParaRPr lang="en-US" sz="1700" dirty="0"/>
          </a:p>
        </p:txBody>
      </p:sp>
      <p:sp>
        <p:nvSpPr>
          <p:cNvPr id="4" name="Text 2"/>
          <p:cNvSpPr txBox="1"/>
          <p:nvPr/>
        </p:nvSpPr>
        <p:spPr>
          <a:xfrm>
            <a:off x="548640" y="4023360"/>
            <a:ext cx="7315200" cy="457200"/>
          </a:xfrm>
          <a:prstGeom prst="rect">
            <a:avLst/>
          </a:prstGeom>
          <a:noFill/>
          <a:ln/>
        </p:spPr>
        <p:txBody>
          <a:bodyPr wrap="square" lIns="0" tIns="0" rIns="0" bIns="0" rtlCol="0" anchor="ctr"/>
          <a:lstStyle/>
          <a:p>
            <a:pPr marL="0" indent="0">
              <a:buNone/>
            </a:pPr>
            <a:r>
              <a:rPr lang="en-US" sz="2000" dirty="0">
                <a:solidFill>
                  <a:srgbClr val="D5E0E8"/>
                </a:solidFill>
                <a:latin typeface="Calibri" pitchFamily="34" charset="0"/>
                <a:ea typeface="Calibri" pitchFamily="34" charset="-122"/>
                <a:cs typeface="Calibri"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2037</Words>
  <Application>Microsoft Macintosh PowerPoint</Application>
  <PresentationFormat>On-screen Show (16:9)</PresentationFormat>
  <Paragraphs>177</Paragraphs>
  <Slides>16</Slides>
  <Notes>14</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OutfitOra video presentation</dc:title>
  <dc:subject>PptxGenJS Presentation</dc:subject>
  <dc:creator>PptxGenJS</dc:creator>
  <cp:lastModifiedBy>sanjosephvj@outlook.com</cp:lastModifiedBy>
  <cp:revision>6</cp:revision>
  <dcterms:created xsi:type="dcterms:W3CDTF">2026-10-16T13:04:50Z</dcterms:created>
  <dcterms:modified xsi:type="dcterms:W3CDTF">2026-10-16T22:38:15Z</dcterms:modified>
</cp:coreProperties>
</file>